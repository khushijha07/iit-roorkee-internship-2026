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1" r:id="rId2"/>
    <p:sldId id="322" r:id="rId3"/>
    <p:sldId id="325" r:id="rId4"/>
    <p:sldId id="326" r:id="rId5"/>
    <p:sldId id="329" r:id="rId6"/>
    <p:sldId id="327" r:id="rId7"/>
    <p:sldId id="328" r:id="rId8"/>
    <p:sldId id="330" r:id="rId9"/>
    <p:sldId id="332" r:id="rId10"/>
    <p:sldId id="331" r:id="rId11"/>
    <p:sldId id="32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96" autoAdjust="0"/>
  </p:normalViewPr>
  <p:slideViewPr>
    <p:cSldViewPr snapToGrid="0">
      <p:cViewPr>
        <p:scale>
          <a:sx n="75" d="100"/>
          <a:sy n="75" d="100"/>
        </p:scale>
        <p:origin x="874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72771-66F5-413F-BAE0-2F103C7E6CF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125C3-EB2C-4F9D-8D16-520E90887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675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125C3-EB2C-4F9D-8D16-520E9088791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313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arxiv.org/pdf/2010.11929" TargetMode="External"/><Relationship Id="rId4" Type="http://schemas.openxmlformats.org/officeDocument/2006/relationships/hyperlink" Target="https://arxiv.org/pdf/1706.0376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728396" y="1259685"/>
            <a:ext cx="8735208" cy="752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50000"/>
              </a:lnSpc>
            </a:pPr>
            <a:r>
              <a:rPr lang="en-US" sz="3200" b="1" dirty="0">
                <a:latin typeface="Georgia" pitchFamily="34" charset="0"/>
              </a:rPr>
              <a:t>Vision Transformers</a:t>
            </a:r>
          </a:p>
          <a:p>
            <a:pPr algn="ctr"/>
            <a:r>
              <a:rPr lang="en-IN" sz="1600" dirty="0"/>
              <a:t>An Image is worth 16x16 words</a:t>
            </a:r>
            <a:r>
              <a:rPr lang="en-US" sz="1600" b="1" dirty="0"/>
              <a:t> </a:t>
            </a:r>
            <a:endParaRPr lang="en-US" sz="16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Khushi Jha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Shubham Joshi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: Vision transformers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F68BD8A6-4977-7E1F-899E-B2B208C2E3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CFE617-5D02-A684-8A6F-9E4297314F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321" t="17009" r="4283" b="4886"/>
          <a:stretch>
            <a:fillRect/>
          </a:stretch>
        </p:blipFill>
        <p:spPr>
          <a:xfrm>
            <a:off x="5108713" y="1435778"/>
            <a:ext cx="6963706" cy="40976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AC1ADF-C63F-5049-8F71-0C5DAD326047}"/>
              </a:ext>
            </a:extLst>
          </p:cNvPr>
          <p:cNvSpPr txBox="1"/>
          <p:nvPr/>
        </p:nvSpPr>
        <p:spPr>
          <a:xfrm>
            <a:off x="327991" y="1435778"/>
            <a:ext cx="469127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Transformers has become the de-facto standard for NLP, but was </a:t>
            </a:r>
            <a:r>
              <a:rPr lang="en-IN" sz="2000" b="1" dirty="0"/>
              <a:t>not mature for computer vision</a:t>
            </a:r>
            <a:r>
              <a:rPr lang="en-IN" sz="2000" dirty="0"/>
              <a:t> tasks ( by the time </a:t>
            </a:r>
            <a:r>
              <a:rPr lang="en-IN" sz="2000" dirty="0" err="1"/>
              <a:t>ViT</a:t>
            </a:r>
            <a:r>
              <a:rPr lang="en-IN" sz="2000" dirty="0"/>
              <a:t> was published)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 bridge this gap, the Vision Transformer proposes a radically simple idea: </a:t>
            </a:r>
            <a:r>
              <a:rPr lang="en-IN" sz="2000" b="1" dirty="0"/>
              <a:t>treat an image exactly like a sentence of text.</a:t>
            </a:r>
          </a:p>
          <a:p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Instead of words, the image is divided into </a:t>
            </a:r>
            <a:r>
              <a:rPr lang="en-IN" sz="2000" b="1" dirty="0"/>
              <a:t>fixed-size patches</a:t>
            </a:r>
            <a:r>
              <a:rPr lang="en-IN" sz="2000" dirty="0"/>
              <a:t>, which are flattened and processed as a </a:t>
            </a:r>
            <a:r>
              <a:rPr lang="en-IN" sz="2000" b="1" dirty="0"/>
              <a:t>1D sequence of tokens</a:t>
            </a:r>
            <a:r>
              <a:rPr lang="en-IN" sz="2000" dirty="0"/>
              <a:t>.</a:t>
            </a: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318F5-8CD6-85AB-57C6-54E28E7F6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948DEE-EF18-9B8A-9988-6825CD6924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259553" y="10687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4809A9-EE3E-ADC9-7209-262C8D9FDA04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07FC97-141D-3403-C3C6-9BD4D43D8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9B8D652-C845-0072-A7A8-7C6A222EC859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D190A07-0E49-C8CF-CF19-4701BA2B5F2F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: The NLP Transformers 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78D2192B-7C39-3547-0A2D-69E4ECB1A8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668222-CEC7-C701-56E0-CD72DCFC3535}"/>
              </a:ext>
            </a:extLst>
          </p:cNvPr>
          <p:cNvSpPr txBox="1"/>
          <p:nvPr/>
        </p:nvSpPr>
        <p:spPr>
          <a:xfrm>
            <a:off x="337930" y="1256873"/>
            <a:ext cx="620201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/>
              <a:t>ViT</a:t>
            </a:r>
            <a:r>
              <a:rPr lang="en-IN" sz="2000" dirty="0"/>
              <a:t> borrows its core architecture directly from the NLP world, specifically the famous </a:t>
            </a:r>
            <a:r>
              <a:rPr lang="en-IN" sz="2000" b="1" dirty="0"/>
              <a:t>"</a:t>
            </a:r>
            <a:r>
              <a:rPr lang="en-IN" sz="2000" b="1" i="1" dirty="0"/>
              <a:t>Attention is All You Need</a:t>
            </a:r>
            <a:r>
              <a:rPr lang="en-IN" sz="2000" b="1" dirty="0"/>
              <a:t>"</a:t>
            </a:r>
            <a:r>
              <a:rPr lang="en-IN" sz="2000" dirty="0"/>
              <a:t> paper.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This original architecture uses an </a:t>
            </a:r>
            <a:r>
              <a:rPr lang="en-IN" sz="2000" b="1" dirty="0"/>
              <a:t>Encoder-Decoder</a:t>
            </a:r>
            <a:r>
              <a:rPr lang="en-IN" sz="2000" dirty="0"/>
              <a:t> setup (shown left), relying on "Self-Attention" to learn how different parts of a sequence relate to each other</a:t>
            </a:r>
          </a:p>
          <a:p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It processes data in parallel rather than step-by-step, using "</a:t>
            </a:r>
            <a:r>
              <a:rPr lang="en-IN" sz="2000" b="1" dirty="0"/>
              <a:t>Positional Encodings</a:t>
            </a:r>
            <a:r>
              <a:rPr lang="en-IN" sz="2000" dirty="0"/>
              <a:t>" (at the bottom) to remember the original order of the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The key difference:</a:t>
            </a:r>
            <a:r>
              <a:rPr lang="en-IN" sz="2000" dirty="0"/>
              <a:t> While standard NLP transformers need both halves for tasks like translation, </a:t>
            </a:r>
            <a:r>
              <a:rPr lang="en-IN" sz="2000" dirty="0" err="1"/>
              <a:t>ViT</a:t>
            </a:r>
            <a:r>
              <a:rPr lang="en-IN" sz="2000" dirty="0"/>
              <a:t> strips this down and uses </a:t>
            </a:r>
            <a:r>
              <a:rPr lang="en-IN" sz="2000" b="1" dirty="0"/>
              <a:t>only the Encoder</a:t>
            </a:r>
            <a:r>
              <a:rPr lang="en-IN" sz="2000" dirty="0"/>
              <a:t> (the left block) to process its image patches.</a:t>
            </a: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051A94-BEAD-7AE1-0C96-7A8DF81D9B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01" t="6415" r="16911" b="2177"/>
          <a:stretch>
            <a:fillRect/>
          </a:stretch>
        </p:blipFill>
        <p:spPr>
          <a:xfrm>
            <a:off x="7434470" y="1005804"/>
            <a:ext cx="4174435" cy="532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53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DEBC7-C7F7-9404-1D24-20AB9942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552D9E-D3C9-ED62-6E27-DEEE82D02A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259553" y="10687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3866B16-52D0-905E-B53B-9D5D436A0FB8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3593AA-CC19-C4AB-4805-5FAF4E9CF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2BE6198-084F-FFA3-CD57-8FFFF5F4CA8E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65FCAB1-992D-8B9C-54A3-88A8BB15EE8E}"/>
              </a:ext>
            </a:extLst>
          </p:cNvPr>
          <p:cNvSpPr/>
          <p:nvPr/>
        </p:nvSpPr>
        <p:spPr>
          <a:xfrm>
            <a:off x="2578393" y="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v/s Convolutional Neural Network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2E839916-337D-C867-610F-AACBC1B204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133215-2413-404F-37C6-9CE7C3D9004D}"/>
              </a:ext>
            </a:extLst>
          </p:cNvPr>
          <p:cNvSpPr txBox="1"/>
          <p:nvPr/>
        </p:nvSpPr>
        <p:spPr>
          <a:xfrm>
            <a:off x="6183680" y="1122924"/>
            <a:ext cx="5650458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Strong inductive bias (assumes nearby pixels relate). Learns efficiently on </a:t>
            </a:r>
            <a:r>
              <a:rPr lang="en-IN" sz="2000" b="1" dirty="0"/>
              <a:t>small-to-medium datasets.</a:t>
            </a:r>
            <a:endParaRPr lang="en-IN" sz="2000" dirty="0"/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Local</a:t>
            </a:r>
            <a:r>
              <a:rPr lang="en-IN" sz="2000" dirty="0"/>
              <a:t> receptive field. Processes small areas first and builds global understanding </a:t>
            </a:r>
            <a:r>
              <a:rPr lang="en-IN" sz="2000" i="1" dirty="0"/>
              <a:t>slowly</a:t>
            </a:r>
            <a:r>
              <a:rPr lang="en-IN" sz="2000" dirty="0"/>
              <a:t>, layer-by-layer.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Hardware-optimized with a lighter memory footprint. The standard choice for real-time, low-latency edge devices.</a:t>
            </a: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46C57E46-FA1E-9207-5332-B669AF92D6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E4FB98-B361-0921-AD5A-99D1D55D94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274" t="20615" r="20351" b="41316"/>
          <a:stretch>
            <a:fillRect/>
          </a:stretch>
        </p:blipFill>
        <p:spPr>
          <a:xfrm>
            <a:off x="6333833" y="4643121"/>
            <a:ext cx="5610253" cy="16655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3519FA-F696-AAFA-EAD7-E5A32A3892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259" t="54378" r="20405"/>
          <a:stretch>
            <a:fillRect/>
          </a:stretch>
        </p:blipFill>
        <p:spPr>
          <a:xfrm>
            <a:off x="167862" y="4729133"/>
            <a:ext cx="5777986" cy="150913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F587AE8-E6E2-D752-778A-2B68F8B5FE90}"/>
              </a:ext>
            </a:extLst>
          </p:cNvPr>
          <p:cNvSpPr/>
          <p:nvPr/>
        </p:nvSpPr>
        <p:spPr>
          <a:xfrm>
            <a:off x="6246153" y="4560759"/>
            <a:ext cx="2001520" cy="2368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300D74-59AF-0E74-B205-FC662A021A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6183680" y="6139911"/>
            <a:ext cx="1379803" cy="305833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792FF6-2AA4-D7DF-FFD3-679C74DB9766}"/>
              </a:ext>
            </a:extLst>
          </p:cNvPr>
          <p:cNvCxnSpPr>
            <a:stCxn id="3" idx="2"/>
            <a:endCxn id="5" idx="2"/>
          </p:cNvCxnSpPr>
          <p:nvPr/>
        </p:nvCxnSpPr>
        <p:spPr>
          <a:xfrm>
            <a:off x="6096000" y="888468"/>
            <a:ext cx="0" cy="596953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C438810-CBEB-F32E-8D59-376A48FC8683}"/>
              </a:ext>
            </a:extLst>
          </p:cNvPr>
          <p:cNvSpPr txBox="1"/>
          <p:nvPr/>
        </p:nvSpPr>
        <p:spPr>
          <a:xfrm>
            <a:off x="167861" y="1122924"/>
            <a:ext cx="560297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Minimal inductive bias. Requires </a:t>
            </a:r>
            <a:r>
              <a:rPr lang="en-IN" sz="2000" b="1" dirty="0"/>
              <a:t>massive datasets </a:t>
            </a:r>
            <a:r>
              <a:rPr lang="en-IN" sz="2000" dirty="0"/>
              <a:t>to learn patterns from scratch, but has a higher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Global</a:t>
            </a:r>
            <a:r>
              <a:rPr lang="en-IN" sz="2000" dirty="0"/>
              <a:t> receptive field. Uses self-attention to capture relationships across the </a:t>
            </a:r>
            <a:r>
              <a:rPr lang="en-IN" sz="2000" i="1" dirty="0"/>
              <a:t>entire</a:t>
            </a:r>
            <a:r>
              <a:rPr lang="en-IN" sz="2000" dirty="0"/>
              <a:t> image from the very first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Computationally heavier (quadratic complexity as image size grows), but highly </a:t>
            </a:r>
            <a:r>
              <a:rPr lang="en-IN" sz="2000" i="1" dirty="0"/>
              <a:t>parallelizable</a:t>
            </a:r>
            <a:r>
              <a:rPr lang="en-IN" sz="2000" dirty="0"/>
              <a:t> for large-scale cluster training.</a:t>
            </a:r>
            <a:endParaRPr lang="en-IN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340776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44802-753C-EC1E-337B-2079359DB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AD26F5-DE9B-FB85-DD59-60A64E09AB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259553" y="10687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17B5C4A-7B62-2BE2-5477-4E9D954CEFF1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6EA407-4FE7-FF8E-747B-8D94D9149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BEE4B2-63CB-E03C-6054-5FFCC8727F9C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F1C2896-EB2D-ED7B-6A06-848D212871D6}"/>
              </a:ext>
            </a:extLst>
          </p:cNvPr>
          <p:cNvSpPr/>
          <p:nvPr/>
        </p:nvSpPr>
        <p:spPr>
          <a:xfrm>
            <a:off x="3575125" y="17369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Patch Partitioning pipeline 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1034E43F-9DA5-FBB5-148F-B7AB6C55DB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3F821E-5CAD-282C-9D45-DBDB11BAF5D9}"/>
              </a:ext>
            </a:extLst>
          </p:cNvPr>
          <p:cNvSpPr txBox="1"/>
          <p:nvPr/>
        </p:nvSpPr>
        <p:spPr>
          <a:xfrm>
            <a:off x="773615" y="3403454"/>
            <a:ext cx="620201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/>
              <a:t>ViT</a:t>
            </a:r>
            <a:r>
              <a:rPr lang="en-IN" sz="2000" dirty="0"/>
              <a:t> borrows its core architecture directly from the NLP world, specifically the famous </a:t>
            </a:r>
            <a:r>
              <a:rPr lang="en-IN" sz="2000" b="1" dirty="0"/>
              <a:t>"</a:t>
            </a:r>
            <a:r>
              <a:rPr lang="en-IN" sz="2000" b="1" i="1" dirty="0"/>
              <a:t>Attention is All You Need</a:t>
            </a:r>
            <a:r>
              <a:rPr lang="en-IN" sz="2000" b="1" dirty="0"/>
              <a:t>"</a:t>
            </a:r>
            <a:r>
              <a:rPr lang="en-IN" sz="2000" dirty="0"/>
              <a:t> paper.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970915-19DC-935E-9EEF-E546A77C54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01" t="6415" r="16911" b="2177"/>
          <a:stretch>
            <a:fillRect/>
          </a:stretch>
        </p:blipFill>
        <p:spPr>
          <a:xfrm>
            <a:off x="8216791" y="2805141"/>
            <a:ext cx="1232010" cy="15710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AA2980-B23D-D115-833E-A791897ED2F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64" t="21561" r="625" b="8322"/>
          <a:stretch>
            <a:fillRect/>
          </a:stretch>
        </p:blipFill>
        <p:spPr>
          <a:xfrm>
            <a:off x="599439" y="1051385"/>
            <a:ext cx="10818945" cy="3901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F35D4B-B240-00BC-F145-7D5098A306B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2791" b="42860"/>
          <a:stretch>
            <a:fillRect/>
          </a:stretch>
        </p:blipFill>
        <p:spPr>
          <a:xfrm>
            <a:off x="773615" y="5205809"/>
            <a:ext cx="5195468" cy="88939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EE6BCBF-F91D-7D6E-831C-CB434B84D3D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0395" r="30843"/>
          <a:stretch>
            <a:fillRect/>
          </a:stretch>
        </p:blipFill>
        <p:spPr>
          <a:xfrm>
            <a:off x="6634009" y="5205809"/>
            <a:ext cx="4886994" cy="88939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11492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BC8B3-065A-9785-D560-5DBC1939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51339A-45DE-A6B7-34DF-72152E16F5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259553" y="10687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EF2ECC-5776-FA77-9FFB-F5865B66F27D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4DB1CD-D128-6315-4E77-CD959B9C7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3B91E5-F5A2-6FA7-F58F-78ACC6FAEA50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BF20EB5-1516-CCE9-3C54-0B33C9A7B683}"/>
              </a:ext>
            </a:extLst>
          </p:cNvPr>
          <p:cNvSpPr/>
          <p:nvPr/>
        </p:nvSpPr>
        <p:spPr>
          <a:xfrm>
            <a:off x="3575125" y="17369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Architecture 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3C0D564A-878A-C75C-DB96-DF02232274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EA4DC5-1527-8DBF-9BCD-07CEDB62BEAE}"/>
              </a:ext>
            </a:extLst>
          </p:cNvPr>
          <p:cNvSpPr txBox="1"/>
          <p:nvPr/>
        </p:nvSpPr>
        <p:spPr>
          <a:xfrm>
            <a:off x="773615" y="3403454"/>
            <a:ext cx="620201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E1E382-2D03-59C2-1987-1DEA6409F5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39" t="10178" r="4535" b="-954"/>
          <a:stretch>
            <a:fillRect/>
          </a:stretch>
        </p:blipFill>
        <p:spPr>
          <a:xfrm>
            <a:off x="4124960" y="1232665"/>
            <a:ext cx="8067040" cy="432859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DEBA108-5805-362C-BDA5-EC9068C40D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418" t="2336"/>
          <a:stretch>
            <a:fillRect/>
          </a:stretch>
        </p:blipFill>
        <p:spPr>
          <a:xfrm>
            <a:off x="497839" y="1403390"/>
            <a:ext cx="2945621" cy="398714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B34E5E7-FC17-CE37-D2CA-51A7B1583502}"/>
              </a:ext>
            </a:extLst>
          </p:cNvPr>
          <p:cNvSpPr txBox="1"/>
          <p:nvPr/>
        </p:nvSpPr>
        <p:spPr>
          <a:xfrm>
            <a:off x="763455" y="5454610"/>
            <a:ext cx="33003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Position &amp; Token embeddings</a:t>
            </a:r>
          </a:p>
          <a:p>
            <a:pPr marL="342900" indent="-342900">
              <a:buAutoNum type="arabicPeriod"/>
            </a:pPr>
            <a:r>
              <a:rPr lang="en-IN" dirty="0"/>
              <a:t>Transformer Encoder</a:t>
            </a:r>
          </a:p>
          <a:p>
            <a:pPr marL="342900" indent="-342900">
              <a:buAutoNum type="arabicPeriod"/>
            </a:pPr>
            <a:r>
              <a:rPr lang="en-IN" dirty="0"/>
              <a:t>Attention mechanism</a:t>
            </a:r>
          </a:p>
        </p:txBody>
      </p:sp>
    </p:spTree>
    <p:extLst>
      <p:ext uri="{BB962C8B-B14F-4D97-AF65-F5344CB8AC3E}">
        <p14:creationId xmlns:p14="http://schemas.microsoft.com/office/powerpoint/2010/main" val="323314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98A8C-6DBB-15E7-E97F-5CD53370B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347ACA-CC7D-23AB-017D-F134179AE9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259553" y="10687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E1883D-7CBC-1C7C-A250-2D5333FC3746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A0C1F2-5F29-BD22-CCF2-42180DFCF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06684B7-678E-D50B-F331-EA1D6FD92F85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CBF3810-4EAE-91FA-CF1D-0482E3DBCAAC}"/>
              </a:ext>
            </a:extLst>
          </p:cNvPr>
          <p:cNvSpPr/>
          <p:nvPr/>
        </p:nvSpPr>
        <p:spPr>
          <a:xfrm>
            <a:off x="3250005" y="-1922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Position embedding &amp; CLS Tokens 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0019792D-40A7-FC7D-DFFD-C5D9E7D2A9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35FFF1-20C0-2B56-91B8-4487013EB979}"/>
              </a:ext>
            </a:extLst>
          </p:cNvPr>
          <p:cNvSpPr txBox="1"/>
          <p:nvPr/>
        </p:nvSpPr>
        <p:spPr>
          <a:xfrm>
            <a:off x="773615" y="3403454"/>
            <a:ext cx="620201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4CA47B-1605-227D-FB98-AF97FD7D05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46" t="21272" r="9063" b="5151"/>
          <a:stretch>
            <a:fillRect/>
          </a:stretch>
        </p:blipFill>
        <p:spPr>
          <a:xfrm>
            <a:off x="4409440" y="1615812"/>
            <a:ext cx="7782560" cy="40086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8740F1-E615-7F80-AD83-49567AE41C74}"/>
              </a:ext>
            </a:extLst>
          </p:cNvPr>
          <p:cNvSpPr txBox="1"/>
          <p:nvPr/>
        </p:nvSpPr>
        <p:spPr>
          <a:xfrm>
            <a:off x="0" y="1113390"/>
            <a:ext cx="46431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The Special [CLS] Token:</a:t>
            </a:r>
            <a:r>
              <a:rPr lang="en-IN" dirty="0"/>
              <a:t> A unique, learnable "Classification Token" ([CLS]) is prepended to the very front of the sequence. As it passes through the network, gathering context from all other patches to serve as the final "</a:t>
            </a:r>
            <a:r>
              <a:rPr lang="en-IN" i="1" dirty="0"/>
              <a:t>image summary</a:t>
            </a:r>
            <a:r>
              <a:rPr lang="en-IN" dirty="0"/>
              <a:t>" for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Positional Embeddings:</a:t>
            </a:r>
            <a:r>
              <a:rPr lang="en-IN" dirty="0"/>
              <a:t> Transformers process all tokens at once and inherently have no concept of order. To fix this, we mathematically add a specific "</a:t>
            </a:r>
            <a:r>
              <a:rPr lang="en-IN" i="1" dirty="0"/>
              <a:t>Position</a:t>
            </a:r>
            <a:r>
              <a:rPr lang="en-IN" dirty="0"/>
              <a:t>" vector to every token so the model remembers exactly where each patch belongs in the original 2D grid.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The Final Encoder Input:</a:t>
            </a:r>
            <a:r>
              <a:rPr lang="en-IN" dirty="0"/>
              <a:t> Once the [CLS] token is attached and the positional data is finalized, 1D sequence is officially ready to be fed into the Transformer Encoder blocks.</a:t>
            </a:r>
          </a:p>
        </p:txBody>
      </p:sp>
    </p:spTree>
    <p:extLst>
      <p:ext uri="{BB962C8B-B14F-4D97-AF65-F5344CB8AC3E}">
        <p14:creationId xmlns:p14="http://schemas.microsoft.com/office/powerpoint/2010/main" val="3592972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1D57D-3803-E3A4-E0BC-A047926A5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733502-4398-8941-F89D-FA411F2B3E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684FF-4A0B-962D-7B39-FB34AAAE4497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301C5B-0335-D676-1B96-9C48185F3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716E861-1FF6-6ECE-AE29-054B92DB9EE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B8D7317-ABEE-C466-EEC9-98F3348479DF}"/>
              </a:ext>
            </a:extLst>
          </p:cNvPr>
          <p:cNvSpPr/>
          <p:nvPr/>
        </p:nvSpPr>
        <p:spPr>
          <a:xfrm>
            <a:off x="3647440" y="118536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Transformer Encoder</a:t>
            </a:r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E5D7EC-ADE9-1D73-9D18-593557491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102763"/>
            <a:ext cx="8646159" cy="49277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5F8B02-9652-DFA7-62AF-4E73F7C131EA}"/>
              </a:ext>
            </a:extLst>
          </p:cNvPr>
          <p:cNvSpPr txBox="1"/>
          <p:nvPr/>
        </p:nvSpPr>
        <p:spPr>
          <a:xfrm>
            <a:off x="284480" y="1310640"/>
            <a:ext cx="2804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Layer Normalization (LN):</a:t>
            </a:r>
            <a:r>
              <a:rPr lang="en-IN" dirty="0"/>
              <a:t> Applied before every block for stability.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Multi-Head Attention (MSA):</a:t>
            </a:r>
            <a:r>
              <a:rPr lang="en-IN" dirty="0"/>
              <a:t> Computes global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Residual Connections:</a:t>
            </a:r>
            <a:r>
              <a:rPr lang="en-IN" dirty="0"/>
              <a:t> Facilitates gradient flow in deep networks.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MLP:</a:t>
            </a:r>
            <a:r>
              <a:rPr lang="en-IN" dirty="0"/>
              <a:t> Two linear layers with GELU non-linearity.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430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571B9-5CF6-BD39-76B2-4E91B292C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053E32-AE03-47B3-30BB-CF7ED6A20B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9CF713-2772-B192-6DE4-D97FC8065592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F622D9-EAF9-D045-52A7-05BA3B870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DB716C-ED55-D9F4-F62D-923D0142AEC7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7FDFA18-50F9-D328-D0FB-F910D90A6A44}"/>
              </a:ext>
            </a:extLst>
          </p:cNvPr>
          <p:cNvSpPr/>
          <p:nvPr/>
        </p:nvSpPr>
        <p:spPr>
          <a:xfrm>
            <a:off x="3545840" y="120228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Self-Attention Mechanism</a:t>
            </a:r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E40E27-B585-C1A8-5AFA-B5A0CC2BAB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64" t="9915" r="57961" b="13782"/>
          <a:stretch>
            <a:fillRect/>
          </a:stretch>
        </p:blipFill>
        <p:spPr>
          <a:xfrm>
            <a:off x="104959" y="958296"/>
            <a:ext cx="2946399" cy="37998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C322AA-DEB4-6E4B-E23F-9DC0F7C60F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19" t="11176" r="2208" b="5436"/>
          <a:stretch>
            <a:fillRect/>
          </a:stretch>
        </p:blipFill>
        <p:spPr>
          <a:xfrm>
            <a:off x="9140644" y="1034628"/>
            <a:ext cx="2801283" cy="37998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2B415B9-15ED-E061-ABDF-A587BECD5748}"/>
              </a:ext>
            </a:extLst>
          </p:cNvPr>
          <p:cNvSpPr txBox="1"/>
          <p:nvPr/>
        </p:nvSpPr>
        <p:spPr>
          <a:xfrm>
            <a:off x="3051358" y="1178728"/>
            <a:ext cx="55575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The Core Engine:</a:t>
            </a:r>
            <a:r>
              <a:rPr lang="en-IN" dirty="0"/>
              <a:t> </a:t>
            </a:r>
            <a:r>
              <a:rPr lang="en-IN" dirty="0" err="1"/>
              <a:t>ViT</a:t>
            </a:r>
            <a:r>
              <a:rPr lang="en-IN" dirty="0"/>
              <a:t> uses the exact same Multi-Head Self-Attention mechanism from the original NLP paper, relying on mathematical dot products rather than convolutions.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Defining Q, K, and V:</a:t>
            </a:r>
            <a:r>
              <a:rPr lang="en-IN" dirty="0"/>
              <a:t> For </a:t>
            </a:r>
            <a:r>
              <a:rPr lang="en-IN" dirty="0" err="1"/>
              <a:t>ViT</a:t>
            </a:r>
            <a:r>
              <a:rPr lang="en-IN" dirty="0"/>
              <a:t>, the Queries (Q), Keys (K), and Values (V) all come from the exact same place: our sequence of embedded image patches. This is why it is called </a:t>
            </a:r>
            <a:r>
              <a:rPr lang="en-IN" i="1" dirty="0"/>
              <a:t>Self</a:t>
            </a:r>
            <a:r>
              <a:rPr lang="en-IN" dirty="0"/>
              <a:t>-Attention.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Scaled Dot-Product:</a:t>
            </a:r>
            <a:r>
              <a:rPr lang="en-IN" dirty="0"/>
              <a:t> To find out how much "attention" Patch A should pay to Patch B, the model calculates the dot product of their Queries and Keys, scaling the result and applying a SoftMax function to create a probability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Why "Multi-Head"?</a:t>
            </a:r>
            <a:r>
              <a:rPr lang="en-IN" dirty="0"/>
              <a:t> Instead of computing attention just once, the model splits the process into multiple parallel "heads." This allows the network to simultaneously search for different visual relationships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633D0B8-F289-9D5D-472D-45B0684166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216" r="17398"/>
          <a:stretch>
            <a:fillRect/>
          </a:stretch>
        </p:blipFill>
        <p:spPr>
          <a:xfrm>
            <a:off x="8608878" y="4933074"/>
            <a:ext cx="3430723" cy="87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9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B3634-D58B-14F8-EE53-C660BB95C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112A48-754B-9371-85A5-49ED9ADB03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25A03B8-7380-F974-C7F7-DFCF7969B8BD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9FEE64-4F77-A4C5-C961-26E58CF02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5B1F60-5A36-4451-D660-6BAC2A200816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1924FBE-D036-272B-EA73-81C27B5EF378}"/>
              </a:ext>
            </a:extLst>
          </p:cNvPr>
          <p:cNvSpPr/>
          <p:nvPr/>
        </p:nvSpPr>
        <p:spPr>
          <a:xfrm>
            <a:off x="2987040" y="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Baseline </a:t>
            </a:r>
            <a:r>
              <a:rPr lang="en-US" sz="28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What’s Next?</a:t>
            </a:r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3B9282-ABD0-B084-49BF-65AE6A091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67" y="933544"/>
            <a:ext cx="11512866" cy="419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044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E402EB-681D-9743-A40B-B1F6C9473F83}"/>
              </a:ext>
            </a:extLst>
          </p:cNvPr>
          <p:cNvSpPr txBox="1"/>
          <p:nvPr/>
        </p:nvSpPr>
        <p:spPr>
          <a:xfrm>
            <a:off x="701040" y="1493520"/>
            <a:ext cx="822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Attention is all you need : </a:t>
            </a:r>
            <a:r>
              <a:rPr lang="en-IN" dirty="0">
                <a:hlinkClick r:id="rId4"/>
              </a:rPr>
              <a:t>https://arxiv.org/pdf/1706.03762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2. </a:t>
            </a:r>
            <a:r>
              <a:rPr lang="en-US" dirty="0"/>
              <a:t>An image is worth 16x16 words:  transformers for image recognition at scale</a:t>
            </a:r>
          </a:p>
          <a:p>
            <a:r>
              <a:rPr lang="en-US" dirty="0">
                <a:hlinkClick r:id="rId5"/>
              </a:rPr>
              <a:t>https://arxiv.org/pdf/2010.11929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778</Words>
  <Application>Microsoft Office PowerPoint</Application>
  <PresentationFormat>Widescreen</PresentationFormat>
  <Paragraphs>85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Khushi Jha</cp:lastModifiedBy>
  <cp:revision>2</cp:revision>
  <dcterms:created xsi:type="dcterms:W3CDTF">2026-05-21T06:29:53Z</dcterms:created>
  <dcterms:modified xsi:type="dcterms:W3CDTF">2026-06-12T11:22:20Z</dcterms:modified>
</cp:coreProperties>
</file>