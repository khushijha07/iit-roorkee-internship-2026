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2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3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4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6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1" r:id="rId2"/>
    <p:sldId id="322" r:id="rId3"/>
    <p:sldId id="327" r:id="rId4"/>
    <p:sldId id="324" r:id="rId5"/>
    <p:sldId id="333" r:id="rId6"/>
    <p:sldId id="334" r:id="rId7"/>
    <p:sldId id="338" r:id="rId21"/>
    <p:sldId id="339" r:id="rId22"/>
    <p:sldId id="340" r:id="rId23"/>
    <p:sldId id="341" r:id="rId24"/>
    <p:sldId id="342" r:id="rId25"/>
    <p:sldId id="325" r:id="rId8"/>
    <p:sldId id="335" r:id="rId9"/>
    <p:sldId id="331" r:id="rId10"/>
    <p:sldId id="336" r:id="rId11"/>
    <p:sldId id="332" r:id="rId12"/>
    <p:sldId id="329" r:id="rId13"/>
    <p:sldId id="33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2" initials="u" lastIdx="1" clrIdx="0">
    <p:extLst>
      <p:ext uri="{19B8F6BF-5375-455C-9EA6-DF929625EA0E}">
        <p15:presenceInfo xmlns:p15="http://schemas.microsoft.com/office/powerpoint/2012/main" userId="user2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1" Type="http://schemas.openxmlformats.org/officeDocument/2006/relationships/slide" Target="slides/slide14.xml"/>
  <Relationship Id="rId22" Type="http://schemas.openxmlformats.org/officeDocument/2006/relationships/slide" Target="slides/slide15.xml"/>
  <Relationship Id="rId23" Type="http://schemas.openxmlformats.org/officeDocument/2006/relationships/slide" Target="slides/slide16.xml"/>
  <Relationship Id="rId24" Type="http://schemas.openxmlformats.org/officeDocument/2006/relationships/slide" Target="slides/slide17.xml"/>
  <Relationship Id="rId25" Type="http://schemas.openxmlformats.org/officeDocument/2006/relationships/slide" Target="slides/slide18.xml"/>
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15T18:47:58.054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15T18:47:58.054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15T18:47:58.054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15T18:47:58.054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15T18:47:58.054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15T18:47:58.054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59C270-2C14-4CE7-8C88-66CBBB22B1F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A91BC-D588-4134-9F07-B5E1809FF2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349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A91BC-D588-4134-9F07-B5E1809FF24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6173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A91BC-D588-4134-9F07-B5E1809FF24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720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A91BC-D588-4134-9F07-B5E1809FF24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8782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A91BC-D588-4134-9F07-B5E1809FF24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2564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A91BC-D588-4134-9F07-B5E1809FF24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695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AEB5-225E-4810-9563-E46323C08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49624-476A-4471-B279-AD909F197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A42A1-7CD4-415E-8AF4-9D85D9FE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0AA0E-0E69-484F-B4AE-93740666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02798-846B-46C5-8E9A-002676BC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0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FB1A-C635-4763-B822-C6815F5D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B9B05-75E0-4400-9E29-DF00D535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A95CD-B135-4E87-BCEB-F5CDA5DB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B66C0-FFE4-4C76-B50F-64FA1147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35CFC-DB24-4743-890C-852D3A40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87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4D71-AFB1-4E1C-8AE8-524A4FF2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6E175-81E0-45F0-BDB5-A097DE6F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499F-80ED-4BDB-AA88-138ACF1D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1B6B7-9591-4020-867B-9AACA9D0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EF05-F6A0-42F1-9ECA-4ABD4541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32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E95C-93DD-4EDC-B202-DE1512A4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E3F80-1B52-49CF-9284-17541428C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BBC02-DF00-4C66-85B6-7928B8EA8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F04E9-34DD-4A67-9A08-5A37CA5A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B592-86DD-461C-92CF-E718CE42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A06F5-01A7-4D6A-B553-A96AA8B2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9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33C1-C9CF-4644-AA3B-B31241C8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190FF-FA3F-4E33-8D8E-C0BF30642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D967B-973D-44B5-93D0-CBBB95E8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29746-207D-44BD-A805-8FB32B955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E08D6-F6B4-4C59-AC21-11CACBE74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3A868-1684-4D51-9909-E6FEBA23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C4DB7-8D66-4385-8F36-DDB0B406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238E7-75D6-4B5A-9A5E-94AF3DDF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10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1F7D-9A0E-4428-AFA6-B3884B86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D0FE8-FBC4-4053-A9DB-007B50B0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F5807-E233-4E49-A82E-99348F18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E2138-6BF4-4E1E-8532-88B172A8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91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22116-2130-4A94-A2E7-88243ABB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B84FF-3C8D-4AF6-ACFC-BBB36E20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1DE3D-6CA5-40DA-BF1D-E2010838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16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99DD-99C2-4B2F-AB88-D320B467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C6A9-2E46-4F1C-979D-61E38C8C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BF673-C3EC-4B67-86DA-0C2F5AD86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0DD5C-A4A3-456F-A80A-CC716C66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9E7FB-5912-492F-B954-BE022C6C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EEE39-41A5-4D5D-8DE7-C16FA74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81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4216-DB91-4F86-AB66-FF06A9B1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555AE-30E1-4B94-8AE5-5E8654117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61B40-8596-4A45-BF52-06D0752E6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02313-6DE9-48CC-8A90-1857FDF7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0DD8B-F55D-4B88-9392-4DD15847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0A818-5409-4AFE-B471-373AFE39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44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D382-98BA-4F37-BB94-642F99FE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807C-4AD2-4BEF-8657-F80C544E5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A87A4-FF52-4E32-95A3-F2A31EFA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8933-D684-4380-9EBA-8DF478B4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5C49-D069-4F13-81B1-A1E07B53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52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954B0-E481-4AF9-A3BA-564C7010E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368E4-F9C3-4E17-8884-BF1F7F82F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F5AA5-E3DC-4A1B-8ECA-54BEAFEE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FE7C3-D9E2-4027-9A75-6C5E9E60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59609-801E-4223-836A-D95A46CA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5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72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E3B56-6D5C-4682-9920-B94261D4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7D9D1-EE96-4CB8-A598-90974E6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7A5E0-FA87-4BDD-B501-B34239EBA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56BB9-162D-4FE6-BD3D-5DE0B1A00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20E43-4D3F-4308-BFAB-EB5E8B801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9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comments" Target="../comments/commen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comments" Target="../comments/commen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comments" Target="../comments/comment3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comments" Target="../comments/comment4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comments" Target="../comments/comment5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07/s10278-023-00837-6" TargetMode="External"/><Relationship Id="rId13" Type="http://schemas.openxmlformats.org/officeDocument/2006/relationships/hyperlink" Target="https://doi.org/10.1007/s11263-019-01228-7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doi.org/10.2316/p.2017.852-053" TargetMode="External"/><Relationship Id="rId12" Type="http://schemas.openxmlformats.org/officeDocument/2006/relationships/hyperlink" Target="https://doi.org/10.1109/cvpr.2017.243" TargetMode="External"/><Relationship Id="rId2" Type="http://schemas.openxmlformats.org/officeDocument/2006/relationships/notesSlide" Target="../notesSlides/notesSlide5.xml"/><Relationship Id="rId16" Type="http://schemas.openxmlformats.org/officeDocument/2006/relationships/comments" Target="../comments/comment6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oi.org/10.1016/j.jaad.2016.02.1213" TargetMode="External"/><Relationship Id="rId11" Type="http://schemas.openxmlformats.org/officeDocument/2006/relationships/hyperlink" Target="https://doi.org/10.1038/s41597-024-03387-w" TargetMode="External"/><Relationship Id="rId5" Type="http://schemas.openxmlformats.org/officeDocument/2006/relationships/hyperlink" Target="https://doi.org/10.1016/j.ccell.2017.05.007" TargetMode="External"/><Relationship Id="rId15" Type="http://schemas.openxmlformats.org/officeDocument/2006/relationships/hyperlink" Target="https://doi.org/10.1038/sdata.2018.161" TargetMode="External"/><Relationship Id="rId10" Type="http://schemas.openxmlformats.org/officeDocument/2006/relationships/hyperlink" Target="https://doi.org/10.48550/arxiv.2010.11929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doi.org/10.48550/arxiv.2102.04306" TargetMode="External"/><Relationship Id="rId14" Type="http://schemas.openxmlformats.org/officeDocument/2006/relationships/hyperlink" Target="https://doi.org/10.48550/arxiv.1905.11946" TargetMode="External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3C2ADE-F067-45D0-AAAA-FFC13890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821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AAD0F6-9FE5-42AD-AC79-E88FBF31D6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6" t="6826"/>
          <a:stretch/>
        </p:blipFill>
        <p:spPr>
          <a:xfrm>
            <a:off x="0" y="4394200"/>
            <a:ext cx="12192000" cy="24638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E3314A08-1627-40ED-BFA4-6793AACB7A59}"/>
              </a:ext>
            </a:extLst>
          </p:cNvPr>
          <p:cNvSpPr/>
          <p:nvPr/>
        </p:nvSpPr>
        <p:spPr>
          <a:xfrm>
            <a:off x="1468967" y="1062571"/>
            <a:ext cx="9254067" cy="1088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sz="2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Evaluating CNN and </a:t>
            </a:r>
            <a:r>
              <a:rPr lang="en-US" sz="2400" b="1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ViT</a:t>
            </a:r>
            <a:r>
              <a:rPr lang="en-US" sz="2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on skin cancer dataset</a:t>
            </a:r>
            <a:endParaRPr lang="en-US" sz="24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B2CB65-D2F8-4C74-98AC-5665A3C7ADA1}"/>
              </a:ext>
            </a:extLst>
          </p:cNvPr>
          <p:cNvSpPr txBox="1">
            <a:spLocks/>
          </p:cNvSpPr>
          <p:nvPr/>
        </p:nvSpPr>
        <p:spPr>
          <a:xfrm>
            <a:off x="1264556" y="2303575"/>
            <a:ext cx="9662888" cy="456355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1" kern="12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Summer Internship- (25 May 2026 – 17 July 2026)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A523A3B-A0A7-42F8-9E01-9BE5577510A4}"/>
              </a:ext>
            </a:extLst>
          </p:cNvPr>
          <p:cNvSpPr/>
          <p:nvPr/>
        </p:nvSpPr>
        <p:spPr>
          <a:xfrm>
            <a:off x="389467" y="3152568"/>
            <a:ext cx="478366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Name: Khushi Jha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Prof. Millie Pant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Mentor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Mr. Shubham Joshi</a:t>
            </a:r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Mathematics &amp; Scientific Computing</a:t>
            </a:r>
          </a:p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Indian Institute of Technology  Roorkee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3474721" y="62367"/>
            <a:ext cx="580643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: Skin cancer detection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4ED0BC-DA7D-4DB9-A021-AC0E9E607D07}"/>
              </a:ext>
            </a:extLst>
          </p:cNvPr>
          <p:cNvSpPr txBox="1"/>
          <p:nvPr/>
        </p:nvSpPr>
        <p:spPr>
          <a:xfrm>
            <a:off x="310179" y="1564011"/>
            <a:ext cx="593822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Growing Threat:</a:t>
            </a:r>
            <a:r>
              <a:rPr lang="en-US" altLang="en-US" dirty="0">
                <a:latin typeface="Arial" panose="020B0604020202020204" pitchFamily="34" charset="0"/>
              </a:rPr>
              <a:t> Melanoma rates double every 20 years; deadly, but highly survivable if caught early.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Current Standards:</a:t>
            </a:r>
            <a:r>
              <a:rPr lang="en-US" altLang="en-US" dirty="0">
                <a:latin typeface="Arial" panose="020B0604020202020204" pitchFamily="34" charset="0"/>
              </a:rPr>
              <a:t> Manual diagnosis relies on handcrafted visual heuristics: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ABCDE Rule</a:t>
            </a:r>
            <a:r>
              <a:rPr lang="en-US" altLang="en-US" dirty="0">
                <a:latin typeface="Arial" panose="020B0604020202020204" pitchFamily="34" charset="0"/>
              </a:rPr>
              <a:t> (Asymmetry, Border, Color, Diameter, Evolution) [2].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CASH Rule</a:t>
            </a:r>
            <a:r>
              <a:rPr lang="en-US" altLang="en-US" dirty="0">
                <a:latin typeface="Arial" panose="020B0604020202020204" pitchFamily="34" charset="0"/>
              </a:rPr>
              <a:t> (Color, Architecture, Symmetry, Homogeneity) [3].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The Bottleneck:</a:t>
            </a:r>
            <a:r>
              <a:rPr lang="en-US" altLang="en-US" dirty="0">
                <a:latin typeface="Arial" panose="020B0604020202020204" pitchFamily="34" charset="0"/>
              </a:rPr>
              <a:t> Even expert clinical visual inspection maxes out at 60~80% accuracy without AI assistance [1].</a:t>
            </a: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5853AF-71E5-47B8-9F81-11C575DEB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965" y="1527947"/>
            <a:ext cx="5893593" cy="32072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A6EF38-EB0C-4F89-963E-C203ADB66ACB}"/>
              </a:ext>
            </a:extLst>
          </p:cNvPr>
          <p:cNvSpPr txBox="1"/>
          <p:nvPr/>
        </p:nvSpPr>
        <p:spPr>
          <a:xfrm>
            <a:off x="7034927" y="4721135"/>
            <a:ext cx="40336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i="1" dirty="0"/>
              <a:t>Image Source: International Skin Imaging</a:t>
            </a:r>
          </a:p>
          <a:p>
            <a:pPr algn="ctr"/>
            <a:r>
              <a:rPr lang="en-IN" i="1" dirty="0"/>
              <a:t>Collaboration (ISIC) Archive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FA53A3-DF0D-486E-A450-FAF4352C89EB}"/>
              </a:ext>
            </a:extLst>
          </p:cNvPr>
          <p:cNvSpPr txBox="1"/>
          <p:nvPr/>
        </p:nvSpPr>
        <p:spPr>
          <a:xfrm>
            <a:off x="217813" y="33490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2641002" y="87372"/>
            <a:ext cx="7874598" cy="875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benchmark datasets for skin cancer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429357-D926-4AA3-9D57-D956320C511C}"/>
              </a:ext>
            </a:extLst>
          </p:cNvPr>
          <p:cNvSpPr txBox="1"/>
          <p:nvPr/>
        </p:nvSpPr>
        <p:spPr>
          <a:xfrm>
            <a:off x="295836" y="37477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FB5EFD-BD98-4E17-ADC2-1803F51E134F}"/>
              </a:ext>
            </a:extLst>
          </p:cNvPr>
          <p:cNvSpPr txBox="1"/>
          <p:nvPr/>
        </p:nvSpPr>
        <p:spPr>
          <a:xfrm>
            <a:off x="4003810" y="1169142"/>
            <a:ext cx="8479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D53688F1-23CC-4C06-9AC0-D28C99912C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957793"/>
              </p:ext>
            </p:extLst>
          </p:nvPr>
        </p:nvGraphicFramePr>
        <p:xfrm>
          <a:off x="448235" y="998090"/>
          <a:ext cx="11431079" cy="5075936"/>
        </p:xfrm>
        <a:graphic>
          <a:graphicData uri="http://schemas.openxmlformats.org/drawingml/2006/table">
            <a:tbl>
              <a:tblPr/>
              <a:tblGrid>
                <a:gridCol w="1208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 (Year)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Images / Lesions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Diagnostic Classes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Clinical Metadata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Malignant / Class Balance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Modality 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Relevance to This Project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ISIC 2019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(2019)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25,331 images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classes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(MEL, NV, BCC, AK, BKL, DF, VASC, SCC)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Age, sex,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anatomic site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17.9% melanoma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(4,522 / 25,331)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Dermoscopic image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tabular metadata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training/validation set used in this re-implementation; source of the observed class-imbalance failure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ISIC 2020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(2020)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33,126 images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2,056 patients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(melanoma vs. benign) + 9 auxiliary subtypes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Age, sex, anatomic site,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patient/lesion 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1.8% melanoma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(584 / 33,126)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Dermoscopic image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tabular metadata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Stress-test for imbalance-handling (class-weighting, oversampling) before deployment — harder than ISIC 2019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HAM10000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(2018)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10,015 images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classes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(akiec, bcc, bkl, df, mel, nv, vasc)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Age, sex,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lesion localization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11.1% melanoma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(1,113 / 10,015)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Dermoscopic image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tabular metadata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Secondary benchmark cited directly in the XAAI-Ledger paper; used for cross-dataset generalization checks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MILK10k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(2025)  Selected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10,480 images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5,240 lesions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broad categories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(up to 48 fine-grained ISIC-DX diagnoses)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Age, sex, anatomic site,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skin tone (6-level), histopathology flag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95.7% histopathology-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 ground truth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Paired clinical close-up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dermoscopic image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tabular metadata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 recent public dataset with true dual-image multimodality and diverse skin tones — planned for next-phase generalization and fairness testing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2">
            <a:extLst>
              <a:ext uri="{FF2B5EF4-FFF2-40B4-BE49-F238E27FC236}">
                <a16:creationId xmlns:a16="http://schemas.microsoft.com/office/drawing/2014/main" id="{BC674881-8C12-4784-8C6D-305BAC5EB3B8}"/>
              </a:ext>
            </a:extLst>
          </p:cNvPr>
          <p:cNvSpPr/>
          <p:nvPr/>
        </p:nvSpPr>
        <p:spPr>
          <a:xfrm>
            <a:off x="295836" y="60642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Sources: ISIC 2019 Challenge (Combalia et al., 2019); ISIC 2020 Challenge Dataset (Rotemberg et al., 2021); HAM10000 (Tschandl et al., 2018, Sci. Data); MILK10k (Tschandl et al., 2025, J. Invest. Dermatol. — ISIC Archive).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106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3420932" y="14546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 the model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F021C-C06D-4073-B4C9-ACB3624FCC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4190"/>
          <a:stretch/>
        </p:blipFill>
        <p:spPr>
          <a:xfrm>
            <a:off x="3954836" y="1331086"/>
            <a:ext cx="8237164" cy="43782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E87BF8-726D-4F40-9E9F-640BE0AFB441}"/>
              </a:ext>
            </a:extLst>
          </p:cNvPr>
          <p:cNvSpPr txBox="1"/>
          <p:nvPr/>
        </p:nvSpPr>
        <p:spPr>
          <a:xfrm>
            <a:off x="221672" y="354709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20DCE4-355B-4EAB-A24D-8EBE701DF9F3}"/>
              </a:ext>
            </a:extLst>
          </p:cNvPr>
          <p:cNvSpPr txBox="1"/>
          <p:nvPr/>
        </p:nvSpPr>
        <p:spPr>
          <a:xfrm>
            <a:off x="221672" y="1576454"/>
            <a:ext cx="3733164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r>
              <a:rPr lang="en-US" altLang="en-US" sz="1600" b="1" u="sng" dirty="0">
                <a:latin typeface="Arial" panose="020B0604020202020204" pitchFamily="34" charset="0"/>
              </a:rPr>
              <a:t>CNNs (Local Focus)</a:t>
            </a:r>
            <a:r>
              <a:rPr lang="en-US" altLang="en-US" sz="1600" b="1" dirty="0">
                <a:latin typeface="Arial" panose="020B0604020202020204" pitchFamily="34" charset="0"/>
              </a:rPr>
              <a:t>: </a:t>
            </a:r>
            <a:r>
              <a:rPr lang="en-US" altLang="en-US" sz="1600" dirty="0">
                <a:latin typeface="Arial" panose="020B0604020202020204" pitchFamily="34" charset="0"/>
              </a:rPr>
              <a:t>Extract detailed local features (like edges and textures) via spatial convolutions. However, they struggle to abstract  </a:t>
            </a:r>
            <a:r>
              <a:rPr lang="en-US" altLang="en-US" sz="1600" i="1" dirty="0">
                <a:latin typeface="Arial" panose="020B0604020202020204" pitchFamily="34" charset="0"/>
              </a:rPr>
              <a:t>global context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u="sng" dirty="0" err="1">
                <a:latin typeface="Arial" panose="020B0604020202020204" pitchFamily="34" charset="0"/>
              </a:rPr>
              <a:t>ViTs</a:t>
            </a:r>
            <a:r>
              <a:rPr lang="en-US" altLang="en-US" sz="1600" b="1" u="sng" dirty="0">
                <a:latin typeface="Arial" panose="020B0604020202020204" pitchFamily="34" charset="0"/>
              </a:rPr>
              <a:t> (Global Focus):</a:t>
            </a:r>
            <a:r>
              <a:rPr lang="en-US" altLang="en-US" sz="1600" u="sng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</a:rPr>
              <a:t>Capture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long-range global relationships across the entire image using self-attention mechanisms. Despite this, they require </a:t>
            </a:r>
            <a:r>
              <a:rPr lang="en-US" altLang="en-US" sz="1600" i="1" dirty="0">
                <a:latin typeface="Arial" panose="020B0604020202020204" pitchFamily="34" charset="0"/>
              </a:rPr>
              <a:t>massive datasets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u="sng" dirty="0">
                <a:latin typeface="Arial" panose="020B0604020202020204" pitchFamily="34" charset="0"/>
              </a:rPr>
              <a:t>  Hybrid Solution:</a:t>
            </a:r>
            <a:r>
              <a:rPr lang="en-US" altLang="en-US" sz="1600" u="sng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</a:rPr>
              <a:t>Fuses the precise local feature extraction of CNNs with the global contextual understanding of </a:t>
            </a:r>
            <a:r>
              <a:rPr lang="en-US" altLang="en-US" sz="1600" dirty="0" err="1">
                <a:latin typeface="Arial" panose="020B0604020202020204" pitchFamily="34" charset="0"/>
              </a:rPr>
              <a:t>ViTs</a:t>
            </a:r>
            <a:r>
              <a:rPr lang="en-US" altLang="en-US" sz="1600" dirty="0">
                <a:latin typeface="Arial" panose="020B0604020202020204" pitchFamily="34" charset="0"/>
              </a:rPr>
              <a:t>. This overcomes the limitations of both models for complex analysis.</a:t>
            </a:r>
          </a:p>
          <a:p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A6F108B-D2E0-4E86-8F9F-9F71366CC0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6125"/>
          <a:stretch/>
        </p:blipFill>
        <p:spPr>
          <a:xfrm>
            <a:off x="4851415" y="5639333"/>
            <a:ext cx="6444005" cy="51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800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1985324" y="0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lang="en-US" sz="2800" b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Model 1: DenseNet121 on MILK10k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E87BF8-726D-4F40-9E9F-640BE0AFB441}"/>
              </a:ext>
            </a:extLst>
          </p:cNvPr>
          <p:cNvSpPr txBox="1"/>
          <p:nvPr/>
        </p:nvSpPr>
        <p:spPr>
          <a:xfrm>
            <a:off x="221672" y="354709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20DCE4-355B-4EAB-A24D-8EBE701DF9F3}"/>
              </a:ext>
            </a:extLst>
          </p:cNvPr>
          <p:cNvSpPr txBox="1"/>
          <p:nvPr/>
        </p:nvSpPr>
        <p:spPr>
          <a:xfrm>
            <a:off x="221672" y="1576454"/>
            <a:ext cx="3733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endParaRPr lang="en-IN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A872E333-A29E-4D79-B377-E198AE54EE88}"/>
              </a:ext>
            </a:extLst>
          </p:cNvPr>
          <p:cNvSpPr/>
          <p:nvPr/>
        </p:nvSpPr>
        <p:spPr>
          <a:xfrm>
            <a:off x="533400" y="857988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Dataset: MILK10k (ISIC 2025) — 10,480 images, 5,240 clinical/dermoscopic pairs, 11 diagnostic classes (MEL, NV, BCC, AK, BKL, DF, VASC, SCC, and others).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Metadata used: patient age, sex, and anatomical site of the lesion.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DenseNet121 (ImageNet pre-trained) fine-tuned as an image-only baseline, 20 epochs, 75/25 train-validation split.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Validation result: Accuracy 71.18%, Macro-F1 66.75%, Macro-AUC 0.9016.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Model struggles most on visually overlapping classes (MEL vs NV, BCC vs AK), consistent with a single-modality CNN baseline.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0" descr="densenet_roc.png">
            <a:extLst>
              <a:ext uri="{FF2B5EF4-FFF2-40B4-BE49-F238E27FC236}">
                <a16:creationId xmlns:a16="http://schemas.microsoft.com/office/drawing/2014/main" id="{83B47B07-8A26-4CEA-BFD0-F9E5AA135B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604" y="4322548"/>
            <a:ext cx="5120640" cy="2331720"/>
          </a:xfrm>
          <a:prstGeom prst="rect">
            <a:avLst/>
          </a:prstGeom>
        </p:spPr>
      </p:pic>
      <p:pic>
        <p:nvPicPr>
          <p:cNvPr id="13" name="Image 1" descr="densenet_cm.png">
            <a:extLst>
              <a:ext uri="{FF2B5EF4-FFF2-40B4-BE49-F238E27FC236}">
                <a16:creationId xmlns:a16="http://schemas.microsoft.com/office/drawing/2014/main" id="{EC762660-345F-46F8-B40B-F2282194D83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63486" y="958296"/>
            <a:ext cx="5295114" cy="4633225"/>
          </a:xfrm>
          <a:prstGeom prst="rect">
            <a:avLst/>
          </a:prstGeom>
        </p:spPr>
      </p:pic>
      <p:sp>
        <p:nvSpPr>
          <p:cNvPr id="14" name="Text 6">
            <a:extLst>
              <a:ext uri="{FF2B5EF4-FFF2-40B4-BE49-F238E27FC236}">
                <a16:creationId xmlns:a16="http://schemas.microsoft.com/office/drawing/2014/main" id="{BD2375D3-36CA-41F0-87C3-E4C6053E9EC4}"/>
              </a:ext>
            </a:extLst>
          </p:cNvPr>
          <p:cNvSpPr/>
          <p:nvPr/>
        </p:nvSpPr>
        <p:spPr>
          <a:xfrm>
            <a:off x="6450723" y="55195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1F2A5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Fig. Confusion Matrix — DenseNet121 (11-class)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385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1985324" y="0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Model 2: </a:t>
            </a:r>
            <a:r>
              <a:rPr lang="en-US" sz="2800" b="1" dirty="0" err="1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</a:t>
            </a:r>
            <a:r>
              <a:rPr lang="en-US" sz="2800" b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-B/16 on MILK10k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E87BF8-726D-4F40-9E9F-640BE0AFB441}"/>
              </a:ext>
            </a:extLst>
          </p:cNvPr>
          <p:cNvSpPr txBox="1"/>
          <p:nvPr/>
        </p:nvSpPr>
        <p:spPr>
          <a:xfrm>
            <a:off x="221672" y="354709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5.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20DCE4-355B-4EAB-A24D-8EBE701DF9F3}"/>
              </a:ext>
            </a:extLst>
          </p:cNvPr>
          <p:cNvSpPr txBox="1"/>
          <p:nvPr/>
        </p:nvSpPr>
        <p:spPr>
          <a:xfrm>
            <a:off x="221672" y="1576454"/>
            <a:ext cx="3733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endParaRPr lang="en-IN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A872E333-A29E-4D79-B377-E198AE54EE88}"/>
              </a:ext>
            </a:extLst>
          </p:cNvPr>
          <p:cNvSpPr/>
          <p:nvPr/>
        </p:nvSpPr>
        <p:spPr>
          <a:xfrm>
            <a:off x="763234" y="958296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4A1A7E3B-16D1-4404-8E34-8A4D3AA72578}"/>
              </a:ext>
            </a:extLst>
          </p:cNvPr>
          <p:cNvSpPr/>
          <p:nvPr/>
        </p:nvSpPr>
        <p:spPr>
          <a:xfrm>
            <a:off x="5850575" y="950749"/>
            <a:ext cx="55778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Transformer (ViT-B/16, ImageNet pre-trained) fine-tuned under the same protocol, 20 epochs, same 75/25 split.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result: Accuracy 75.50%, Macro-F1 72.31%, Macro-AUC 0.9251.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self-attention gives ViT-B/16 a modest edge over DenseNet121, mainly on classes with subtle, spread-out lesion patterns.</a:t>
            </a:r>
            <a:endParaRPr lang="en-US" sz="1400" dirty="0"/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1133C177-02E4-44D8-A129-4FB395E9F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737940"/>
              </p:ext>
            </p:extLst>
          </p:nvPr>
        </p:nvGraphicFramePr>
        <p:xfrm>
          <a:off x="329550" y="4363429"/>
          <a:ext cx="6142968" cy="1943816"/>
        </p:xfrm>
        <a:graphic>
          <a:graphicData uri="http://schemas.openxmlformats.org/drawingml/2006/table">
            <a:tbl>
              <a:tblPr/>
              <a:tblGrid>
                <a:gridCol w="2047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7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7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9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DenseNet121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ViT-B/16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9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71.18%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75.50%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9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Macro-F1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66.75%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72.31%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9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Macro-AUC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0.9016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0.9251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7" name="Image 0" descr="vit_roc.png">
            <a:extLst>
              <a:ext uri="{FF2B5EF4-FFF2-40B4-BE49-F238E27FC236}">
                <a16:creationId xmlns:a16="http://schemas.microsoft.com/office/drawing/2014/main" id="{792612BA-6C53-4455-A276-BED11952D2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3967" y="1154654"/>
            <a:ext cx="4754880" cy="2331720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3646B1F9-84EB-4A80-8E7D-C8BF8218991B}"/>
              </a:ext>
            </a:extLst>
          </p:cNvPr>
          <p:cNvSpPr/>
          <p:nvPr/>
        </p:nvSpPr>
        <p:spPr>
          <a:xfrm>
            <a:off x="853257" y="393541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/>
              <a:t>Comparison Table</a:t>
            </a:r>
          </a:p>
        </p:txBody>
      </p:sp>
      <p:pic>
        <p:nvPicPr>
          <p:cNvPr id="20" name="Image 1" descr="vit_cm.png">
            <a:extLst>
              <a:ext uri="{FF2B5EF4-FFF2-40B4-BE49-F238E27FC236}">
                <a16:creationId xmlns:a16="http://schemas.microsoft.com/office/drawing/2014/main" id="{DA9527FC-998C-4E23-AE8B-1864C451B9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36398" y="2817015"/>
            <a:ext cx="4202750" cy="3660460"/>
          </a:xfrm>
          <a:prstGeom prst="rect">
            <a:avLst/>
          </a:prstGeom>
        </p:spPr>
      </p:pic>
      <p:sp>
        <p:nvSpPr>
          <p:cNvPr id="21" name="Text 6">
            <a:extLst>
              <a:ext uri="{FF2B5EF4-FFF2-40B4-BE49-F238E27FC236}">
                <a16:creationId xmlns:a16="http://schemas.microsoft.com/office/drawing/2014/main" id="{EDF6E388-1B14-4141-A744-5285CA4EA6CC}"/>
              </a:ext>
            </a:extLst>
          </p:cNvPr>
          <p:cNvSpPr/>
          <p:nvPr/>
        </p:nvSpPr>
        <p:spPr>
          <a:xfrm>
            <a:off x="5546112" y="6340315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339040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2407920" y="77297"/>
            <a:ext cx="7874598" cy="875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implementation (XAAI-Ledger)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429357-D926-4AA3-9D57-D956320C511C}"/>
              </a:ext>
            </a:extLst>
          </p:cNvPr>
          <p:cNvSpPr txBox="1"/>
          <p:nvPr/>
        </p:nvSpPr>
        <p:spPr>
          <a:xfrm>
            <a:off x="295836" y="37477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11.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FA0328-CC66-4E56-B568-295549FDDB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33279"/>
            <a:ext cx="4003810" cy="56770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FB5EFD-BD98-4E17-ADC2-1803F51E134F}"/>
              </a:ext>
            </a:extLst>
          </p:cNvPr>
          <p:cNvSpPr txBox="1"/>
          <p:nvPr/>
        </p:nvSpPr>
        <p:spPr>
          <a:xfrm>
            <a:off x="3784540" y="1169142"/>
            <a:ext cx="847917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 Text"/>
              </a:rPr>
              <a:t>Core idea:</a:t>
            </a:r>
            <a:r>
              <a:rPr lang="en-US" altLang="en-US" dirty="0">
                <a:latin typeface="Google Sans Text"/>
              </a:rPr>
              <a:t> Introduces a hybrid multi-modal deep learning framework that couples spatial </a:t>
            </a:r>
            <a:r>
              <a:rPr lang="en-US" altLang="en-US" dirty="0" err="1">
                <a:latin typeface="Google Sans Text"/>
              </a:rPr>
              <a:t>dermoscopic</a:t>
            </a:r>
            <a:r>
              <a:rPr lang="en-US" altLang="en-US" dirty="0">
                <a:latin typeface="Google Sans Text"/>
              </a:rPr>
              <a:t> image features with clinical patient metadata through an attention-enabled fusion core to maximize screening accuracy and transparency.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 Text"/>
              </a:rPr>
              <a:t>Data Volume:</a:t>
            </a:r>
            <a:r>
              <a:rPr lang="en-US" altLang="en-US" dirty="0">
                <a:latin typeface="Google Sans Text"/>
              </a:rPr>
              <a:t> Total training repository comprises exactly 25,331 annotated patient profile samples.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 Text"/>
              </a:rPr>
              <a:t>Target Label Skew (Class Imbalance):</a:t>
            </a:r>
            <a:endParaRPr lang="en-US" altLang="en-US" dirty="0">
              <a:latin typeface="Google Sans Text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i="1" dirty="0">
                <a:latin typeface="Google Sans Text"/>
              </a:rPr>
              <a:t>Benign / Non-Melanoma Cases : </a:t>
            </a:r>
            <a:r>
              <a:rPr lang="en-US" altLang="en-US" dirty="0">
                <a:latin typeface="Google Sans Text"/>
              </a:rPr>
              <a:t>20,809 samples.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i="1" dirty="0">
                <a:latin typeface="Google Sans Text"/>
              </a:rPr>
              <a:t>Malignant Melanoma Cases : </a:t>
            </a:r>
            <a:r>
              <a:rPr lang="en-US" altLang="en-US" dirty="0">
                <a:latin typeface="Google Sans Text"/>
              </a:rPr>
              <a:t>4,522 samples.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 Text"/>
              </a:rPr>
              <a:t>Demographic Profile:</a:t>
            </a:r>
            <a:r>
              <a:rPr lang="en-US" altLang="en-US" dirty="0">
                <a:latin typeface="Google Sans Text"/>
              </a:rPr>
              <a:t> The population splits into 13,286 male records and 11,661 female records.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 Text"/>
              </a:rPr>
              <a:t>Missing Data Audit:</a:t>
            </a:r>
            <a:r>
              <a:rPr lang="en-US" altLang="en-US" dirty="0">
                <a:latin typeface="Google Sans Text"/>
              </a:rPr>
              <a:t> High structural sparsity identified prior to cleaning: 437 missing age indices, 384 missing sex markers, and 2,631 missing anatomical site records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 Text"/>
              </a:rPr>
              <a:t>Feature Engineering:</a:t>
            </a:r>
            <a:r>
              <a:rPr lang="en-US" altLang="en-US" dirty="0">
                <a:latin typeface="Google Sans Text"/>
              </a:rPr>
              <a:t> Resolves structural data gaps (missing age, sex, and lesion site variables) using median and mode imputation, standardizes tabular inputs via one-hot encoding, and applies a </a:t>
            </a:r>
            <a:r>
              <a:rPr lang="en-IN" sz="1400" dirty="0">
                <a:solidFill>
                  <a:srgbClr val="4EC9B0"/>
                </a:solidFill>
                <a:latin typeface="Consolas" panose="020B0609020204030204" pitchFamily="49" charset="0"/>
              </a:rPr>
              <a:t>MinMaxScaler</a:t>
            </a:r>
            <a:r>
              <a:rPr lang="en-IN" sz="1400" dirty="0">
                <a:solidFill>
                  <a:srgbClr val="BBBEBF"/>
                </a:solidFill>
                <a:latin typeface="Consolas" panose="020B0609020204030204" pitchFamily="49" charset="0"/>
              </a:rPr>
              <a:t>().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 Text"/>
              </a:rPr>
              <a:t>Pipeline Execution:</a:t>
            </a:r>
            <a:r>
              <a:rPr lang="en-US" altLang="en-US" dirty="0">
                <a:latin typeface="Google Sans Text"/>
              </a:rPr>
              <a:t> Funnels data through dual parallel streams, a frozen pre-trained CNN for visual texture extraction and a Dense MLP for clinical background, before projecting both into a shared Transformer Self-Attention sequence layer.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027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2094155" y="120228"/>
            <a:ext cx="8376621" cy="875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Dual-Stream Architecture &amp; Attention Fusion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429357-D926-4AA3-9D57-D956320C511C}"/>
              </a:ext>
            </a:extLst>
          </p:cNvPr>
          <p:cNvSpPr txBox="1"/>
          <p:nvPr/>
        </p:nvSpPr>
        <p:spPr>
          <a:xfrm>
            <a:off x="295836" y="37477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35688B-81B1-411C-A6DA-ED2FF490793A}"/>
              </a:ext>
            </a:extLst>
          </p:cNvPr>
          <p:cNvSpPr txBox="1"/>
          <p:nvPr/>
        </p:nvSpPr>
        <p:spPr>
          <a:xfrm>
            <a:off x="655230" y="47781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11" name="Image 0" descr="fig4_final.png">
            <a:extLst>
              <a:ext uri="{FF2B5EF4-FFF2-40B4-BE49-F238E27FC236}">
                <a16:creationId xmlns:a16="http://schemas.microsoft.com/office/drawing/2014/main" id="{86761BDE-0936-409A-8B91-12B40B78CD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89560" y="1162838"/>
            <a:ext cx="5943600" cy="3722914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08EFEE3F-B4B2-423E-AF6D-D3E54AF2BEE2}"/>
              </a:ext>
            </a:extLst>
          </p:cNvPr>
          <p:cNvSpPr/>
          <p:nvPr/>
        </p:nvSpPr>
        <p:spPr>
          <a:xfrm>
            <a:off x="295836" y="5220017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4 (paper) — The Proposed CNN-enabled Transformer-Based Solution</a:t>
            </a:r>
            <a:endParaRPr lang="en-US" sz="11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384BFDB6-4DE4-4F00-A386-465F0857208E}"/>
              </a:ext>
            </a:extLst>
          </p:cNvPr>
          <p:cNvSpPr/>
          <p:nvPr/>
        </p:nvSpPr>
        <p:spPr>
          <a:xfrm>
            <a:off x="6629400" y="1051560"/>
            <a:ext cx="516636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stream: a frozen EfficientNetB0 turns the 224×224×3 dermoscopic image into a 256-D visual feature vector.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stream: age, sex, and lesion site (10-D, one-hot) pass through a small MLP (64 → 128 → 256) to produce a matching 256-D vector.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256-D vectors are concatenated into one 512-D token and reshaped into a length-1 sequence for the Transformer.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4-head Multi-Head Self-Attention block, with Add &amp; Norm and a Feed-Forward layer, fuses the image and clinical representations.</a:t>
            </a:r>
            <a:endParaRPr lang="en-US" sz="14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Average Pooling + a Dense sigmoid layer output the final Melanoma / Non-Melanoma prediction.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909062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A8276EC4-11C4-45D4-B2EB-2EA17D743FB6}"/>
              </a:ext>
            </a:extLst>
          </p:cNvPr>
          <p:cNvSpPr/>
          <p:nvPr/>
        </p:nvSpPr>
        <p:spPr>
          <a:xfrm>
            <a:off x="241069" y="3204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939D3DA-B563-4667-93C3-66489864C819}"/>
              </a:ext>
            </a:extLst>
          </p:cNvPr>
          <p:cNvSpPr/>
          <p:nvPr/>
        </p:nvSpPr>
        <p:spPr>
          <a:xfrm>
            <a:off x="553219" y="218381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Results &amp; Conclusion: Reproducibility Assessment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8812FD01-A3FE-487A-8ADE-1B293179A7F3}"/>
              </a:ext>
            </a:extLst>
          </p:cNvPr>
          <p:cNvSpPr/>
          <p:nvPr/>
        </p:nvSpPr>
        <p:spPr>
          <a:xfrm>
            <a:off x="8778240" y="6483096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F58860C0-663D-4E9A-B45A-44A11F3978DF}"/>
              </a:ext>
            </a:extLst>
          </p:cNvPr>
          <p:cNvSpPr/>
          <p:nvPr/>
        </p:nvSpPr>
        <p:spPr>
          <a:xfrm>
            <a:off x="365760" y="960120"/>
            <a:ext cx="55778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Model rebuilt as per the paper: frozen EfficientNetB0 for image features + Dense MLP for clinical metadata, fused with Multi-Head Self-Attention.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Dataset: ISIC 2019 (25,331 samples), 75/25 train-validation split, stratified on class label.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Validation set: 6,333 samples (5,202 Non-Melanoma, 1,131 Melanoma).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Reproduced result: Accuracy 74%, Melanoma Sensitivity 16%, Non-Melanoma Recall 87%.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Confusion matrix and ROC curve generated directly from the trained model's validation predictions.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0" descr="cell58_out2.png">
            <a:extLst>
              <a:ext uri="{FF2B5EF4-FFF2-40B4-BE49-F238E27FC236}">
                <a16:creationId xmlns:a16="http://schemas.microsoft.com/office/drawing/2014/main" id="{5B50244E-7BDF-45C1-A897-D9A41AF428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3794760"/>
            <a:ext cx="5120640" cy="2651760"/>
          </a:xfrm>
          <a:prstGeom prst="rect">
            <a:avLst/>
          </a:prstGeom>
        </p:spPr>
      </p:pic>
      <p:pic>
        <p:nvPicPr>
          <p:cNvPr id="19" name="Image 1" descr="cell58_out1.png">
            <a:extLst>
              <a:ext uri="{FF2B5EF4-FFF2-40B4-BE49-F238E27FC236}">
                <a16:creationId xmlns:a16="http://schemas.microsoft.com/office/drawing/2014/main" id="{6339F677-8EF0-43EE-9334-3C99A3341E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18502" y="947046"/>
            <a:ext cx="5046778" cy="3762949"/>
          </a:xfrm>
          <a:prstGeom prst="rect">
            <a:avLst/>
          </a:prstGeom>
        </p:spPr>
      </p:pic>
      <p:sp>
        <p:nvSpPr>
          <p:cNvPr id="21" name="Text 5">
            <a:extLst>
              <a:ext uri="{FF2B5EF4-FFF2-40B4-BE49-F238E27FC236}">
                <a16:creationId xmlns:a16="http://schemas.microsoft.com/office/drawing/2014/main" id="{6F061218-1B2D-4858-868A-2D193C0829DF}"/>
              </a:ext>
            </a:extLst>
          </p:cNvPr>
          <p:cNvSpPr/>
          <p:nvPr/>
        </p:nvSpPr>
        <p:spPr>
          <a:xfrm>
            <a:off x="6446520" y="4937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3" name="Table 0">
            <a:extLst>
              <a:ext uri="{FF2B5EF4-FFF2-40B4-BE49-F238E27FC236}">
                <a16:creationId xmlns:a16="http://schemas.microsoft.com/office/drawing/2014/main" id="{7427E374-40B5-47C2-BA27-1A32D1061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528692"/>
              </p:ext>
            </p:extLst>
          </p:nvPr>
        </p:nvGraphicFramePr>
        <p:xfrm>
          <a:off x="5863190" y="4953646"/>
          <a:ext cx="5979459" cy="1127760"/>
        </p:xfrm>
        <a:graphic>
          <a:graphicData uri="http://schemas.openxmlformats.org/drawingml/2006/table">
            <a:tbl>
              <a:tblPr/>
              <a:tblGrid>
                <a:gridCol w="1993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3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3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 (Reported)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Reproduced (Ours)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98.71%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74.00%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Sensitivity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97.45%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16.00%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Specificity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98.22%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~87.00%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802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A8276EC4-11C4-45D4-B2EB-2EA17D743FB6}"/>
              </a:ext>
            </a:extLst>
          </p:cNvPr>
          <p:cNvSpPr/>
          <p:nvPr/>
        </p:nvSpPr>
        <p:spPr>
          <a:xfrm>
            <a:off x="241069" y="3204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939D3DA-B563-4667-93C3-66489864C819}"/>
              </a:ext>
            </a:extLst>
          </p:cNvPr>
          <p:cNvSpPr/>
          <p:nvPr/>
        </p:nvSpPr>
        <p:spPr>
          <a:xfrm>
            <a:off x="2677854" y="243351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2400" b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</a:t>
            </a:r>
            <a:r>
              <a:rPr lang="en-US" sz="2400" b="1" dirty="0" err="1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r>
              <a:rPr lang="en-US" sz="2400" b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Lesion Localization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8812FD01-A3FE-487A-8ADE-1B293179A7F3}"/>
              </a:ext>
            </a:extLst>
          </p:cNvPr>
          <p:cNvSpPr/>
          <p:nvPr/>
        </p:nvSpPr>
        <p:spPr>
          <a:xfrm>
            <a:off x="8778240" y="6483096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F58860C0-663D-4E9A-B45A-44A11F3978DF}"/>
              </a:ext>
            </a:extLst>
          </p:cNvPr>
          <p:cNvSpPr/>
          <p:nvPr/>
        </p:nvSpPr>
        <p:spPr>
          <a:xfrm>
            <a:off x="365760" y="960120"/>
            <a:ext cx="55778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R="0" lvl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5D6ACABB-7082-418A-878D-AF294E635CD1}"/>
              </a:ext>
            </a:extLst>
          </p:cNvPr>
          <p:cNvSpPr/>
          <p:nvPr/>
        </p:nvSpPr>
        <p:spPr>
          <a:xfrm>
            <a:off x="2808577" y="32368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1D0BF6CC-905E-47D6-B5A7-7301DB40BD11}"/>
              </a:ext>
            </a:extLst>
          </p:cNvPr>
          <p:cNvSpPr/>
          <p:nvPr/>
        </p:nvSpPr>
        <p:spPr>
          <a:xfrm>
            <a:off x="365760" y="3473936"/>
            <a:ext cx="6309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9C8B2A54-7700-4C25-B109-5C30D7F5FBA6}"/>
              </a:ext>
            </a:extLst>
          </p:cNvPr>
          <p:cNvSpPr/>
          <p:nvPr/>
        </p:nvSpPr>
        <p:spPr>
          <a:xfrm>
            <a:off x="6949440" y="7068561"/>
            <a:ext cx="3217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1F2A5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Fig. SHAP — Clinical Metadata Contribution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6E29235D-100F-48C5-8062-58E488291297}"/>
              </a:ext>
            </a:extLst>
          </p:cNvPr>
          <p:cNvSpPr/>
          <p:nvPr/>
        </p:nvSpPr>
        <p:spPr>
          <a:xfrm>
            <a:off x="365760" y="9144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highlights the pixels in the dermoscopic image that most influenced the model's prediction, computed from the gradients flowing into the last convolutional feature map (Eq. 10–11 in the paper).</a:t>
            </a:r>
            <a:endParaRPr lang="en-US" sz="13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092BBEA0-C085-4F54-852F-550F7DEBC6FC}"/>
              </a:ext>
            </a:extLst>
          </p:cNvPr>
          <p:cNvSpPr/>
          <p:nvPr/>
        </p:nvSpPr>
        <p:spPr>
          <a:xfrm>
            <a:off x="365760" y="1600200"/>
            <a:ext cx="5394960" cy="292608"/>
          </a:xfrm>
          <a:prstGeom prst="rect">
            <a:avLst/>
          </a:prstGeom>
          <a:solidFill>
            <a:srgbClr val="1F2A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Output (Fig. 10 / 11)</a:t>
            </a:r>
            <a:endParaRPr lang="en-US" sz="12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766DACBD-D086-477F-BC98-A218AFA03B31}"/>
              </a:ext>
            </a:extLst>
          </p:cNvPr>
          <p:cNvSpPr/>
          <p:nvPr/>
        </p:nvSpPr>
        <p:spPr>
          <a:xfrm>
            <a:off x="6035040" y="1600200"/>
            <a:ext cx="5760720" cy="292608"/>
          </a:xfrm>
          <a:prstGeom prst="rect">
            <a:avLst/>
          </a:prstGeom>
          <a:solidFill>
            <a:srgbClr val="1F2A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Reproduced Output</a:t>
            </a:r>
            <a:endParaRPr lang="en-US" sz="1200" dirty="0"/>
          </a:p>
        </p:txBody>
      </p:sp>
      <p:pic>
        <p:nvPicPr>
          <p:cNvPr id="18" name="Image 0" descr="fig10_11_final.png">
            <a:extLst>
              <a:ext uri="{FF2B5EF4-FFF2-40B4-BE49-F238E27FC236}">
                <a16:creationId xmlns:a16="http://schemas.microsoft.com/office/drawing/2014/main" id="{0DA8035B-5DEB-40A5-B3DA-F3408638CC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2011680"/>
            <a:ext cx="5394960" cy="4065767"/>
          </a:xfrm>
          <a:prstGeom prst="rect">
            <a:avLst/>
          </a:prstGeom>
        </p:spPr>
      </p:pic>
      <p:pic>
        <p:nvPicPr>
          <p:cNvPr id="19" name="Image 1" descr="cell60_out1.png">
            <a:extLst>
              <a:ext uri="{FF2B5EF4-FFF2-40B4-BE49-F238E27FC236}">
                <a16:creationId xmlns:a16="http://schemas.microsoft.com/office/drawing/2014/main" id="{2A7EAE44-F163-4950-B2E0-D0BBC18534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35040" y="2011680"/>
            <a:ext cx="5760720" cy="1993719"/>
          </a:xfrm>
          <a:prstGeom prst="rect">
            <a:avLst/>
          </a:prstGeom>
        </p:spPr>
      </p:pic>
      <p:pic>
        <p:nvPicPr>
          <p:cNvPr id="21" name="Image 2" descr="cell60_out3.png">
            <a:extLst>
              <a:ext uri="{FF2B5EF4-FFF2-40B4-BE49-F238E27FC236}">
                <a16:creationId xmlns:a16="http://schemas.microsoft.com/office/drawing/2014/main" id="{00BCA070-FE01-4942-85A0-6A9D924190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56938" y="4024063"/>
            <a:ext cx="3516923" cy="1828800"/>
          </a:xfrm>
          <a:prstGeom prst="rect">
            <a:avLst/>
          </a:prstGeom>
        </p:spPr>
      </p:pic>
      <p:sp>
        <p:nvSpPr>
          <p:cNvPr id="22" name="Text 7">
            <a:extLst>
              <a:ext uri="{FF2B5EF4-FFF2-40B4-BE49-F238E27FC236}">
                <a16:creationId xmlns:a16="http://schemas.microsoft.com/office/drawing/2014/main" id="{86B11276-E7C2-4524-86C2-22964820B52D}"/>
              </a:ext>
            </a:extLst>
          </p:cNvPr>
          <p:cNvSpPr/>
          <p:nvPr/>
        </p:nvSpPr>
        <p:spPr>
          <a:xfrm>
            <a:off x="6431282" y="5893303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original → heatmap → overlay sequence as the paper, plus the lesion bounding-box localization step, run on a held-out validation image.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157918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A8276EC4-11C4-45D4-B2EB-2EA17D743FB6}"/>
              </a:ext>
            </a:extLst>
          </p:cNvPr>
          <p:cNvSpPr/>
          <p:nvPr/>
        </p:nvSpPr>
        <p:spPr>
          <a:xfrm>
            <a:off x="267963" y="365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939D3DA-B563-4667-93C3-66489864C819}"/>
              </a:ext>
            </a:extLst>
          </p:cNvPr>
          <p:cNvSpPr/>
          <p:nvPr/>
        </p:nvSpPr>
        <p:spPr>
          <a:xfrm>
            <a:off x="2086183" y="225294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</a:t>
            </a:r>
            <a:r>
              <a:rPr lang="en-US" sz="2400" b="1" dirty="0" err="1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r>
              <a:rPr lang="en-US" sz="2400" b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Clinical Feature Attribution</a:t>
            </a:r>
            <a:endParaRPr lang="en-US" sz="24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8812FD01-A3FE-487A-8ADE-1B293179A7F3}"/>
              </a:ext>
            </a:extLst>
          </p:cNvPr>
          <p:cNvSpPr/>
          <p:nvPr/>
        </p:nvSpPr>
        <p:spPr>
          <a:xfrm>
            <a:off x="8778240" y="6483096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F58860C0-663D-4E9A-B45A-44A11F3978DF}"/>
              </a:ext>
            </a:extLst>
          </p:cNvPr>
          <p:cNvSpPr/>
          <p:nvPr/>
        </p:nvSpPr>
        <p:spPr>
          <a:xfrm>
            <a:off x="365760" y="960120"/>
            <a:ext cx="55778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R="0" lvl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5D6ACABB-7082-418A-878D-AF294E635CD1}"/>
              </a:ext>
            </a:extLst>
          </p:cNvPr>
          <p:cNvSpPr/>
          <p:nvPr/>
        </p:nvSpPr>
        <p:spPr>
          <a:xfrm>
            <a:off x="2808577" y="32368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1D0BF6CC-905E-47D6-B5A7-7301DB40BD11}"/>
              </a:ext>
            </a:extLst>
          </p:cNvPr>
          <p:cNvSpPr/>
          <p:nvPr/>
        </p:nvSpPr>
        <p:spPr>
          <a:xfrm>
            <a:off x="365760" y="3473936"/>
            <a:ext cx="6309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9C8B2A54-7700-4C25-B109-5C30D7F5FBA6}"/>
              </a:ext>
            </a:extLst>
          </p:cNvPr>
          <p:cNvSpPr/>
          <p:nvPr/>
        </p:nvSpPr>
        <p:spPr>
          <a:xfrm>
            <a:off x="6949440" y="7068561"/>
            <a:ext cx="3217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1F2A5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Fig. SHAP — Clinical Metadata Contribution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A598DD3C-0F22-44DC-82BD-B543499612FE}"/>
              </a:ext>
            </a:extLst>
          </p:cNvPr>
          <p:cNvSpPr/>
          <p:nvPr/>
        </p:nvSpPr>
        <p:spPr>
          <a:xfrm>
            <a:off x="365760" y="9144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estimates each clinical feature's contribution to the fused prediction by computing its Shapley value over the metadata branch — giving a feature-level explanation to complement Grad-CAM's pixel-level one.</a:t>
            </a:r>
            <a:endParaRPr lang="en-US" sz="135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63878589-70A3-464D-A479-F484238D893B}"/>
              </a:ext>
            </a:extLst>
          </p:cNvPr>
          <p:cNvSpPr/>
          <p:nvPr/>
        </p:nvSpPr>
        <p:spPr>
          <a:xfrm>
            <a:off x="365760" y="1600200"/>
            <a:ext cx="5394960" cy="292608"/>
          </a:xfrm>
          <a:prstGeom prst="rect">
            <a:avLst/>
          </a:prstGeom>
          <a:solidFill>
            <a:srgbClr val="1F2A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Concept (Fig. 5)</a:t>
            </a:r>
            <a:endParaRPr lang="en-US" sz="12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3E6A2B66-E0C9-4E15-9FC0-C96DA9F6DFA4}"/>
              </a:ext>
            </a:extLst>
          </p:cNvPr>
          <p:cNvSpPr/>
          <p:nvPr/>
        </p:nvSpPr>
        <p:spPr>
          <a:xfrm>
            <a:off x="6035040" y="1600200"/>
            <a:ext cx="5760720" cy="292608"/>
          </a:xfrm>
          <a:prstGeom prst="rect">
            <a:avLst/>
          </a:prstGeom>
          <a:solidFill>
            <a:srgbClr val="1F2A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Reproduced Output </a:t>
            </a:r>
            <a:endParaRPr lang="en-US" sz="1200" dirty="0"/>
          </a:p>
        </p:txBody>
      </p:sp>
      <p:pic>
        <p:nvPicPr>
          <p:cNvPr id="33" name="Image 0" descr="fig5_final.png">
            <a:extLst>
              <a:ext uri="{FF2B5EF4-FFF2-40B4-BE49-F238E27FC236}">
                <a16:creationId xmlns:a16="http://schemas.microsoft.com/office/drawing/2014/main" id="{99DEB161-B2C1-4771-8651-D4C8F98DA2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2011680"/>
            <a:ext cx="5394960" cy="3077125"/>
          </a:xfrm>
          <a:prstGeom prst="rect">
            <a:avLst/>
          </a:prstGeom>
        </p:spPr>
      </p:pic>
      <p:sp>
        <p:nvSpPr>
          <p:cNvPr id="34" name="Text 7">
            <a:extLst>
              <a:ext uri="{FF2B5EF4-FFF2-40B4-BE49-F238E27FC236}">
                <a16:creationId xmlns:a16="http://schemas.microsoft.com/office/drawing/2014/main" id="{52638FB6-1788-4A92-B658-7F6FB0753CE5}"/>
              </a:ext>
            </a:extLst>
          </p:cNvPr>
          <p:cNvSpPr/>
          <p:nvPr/>
        </p:nvSpPr>
        <p:spPr>
          <a:xfrm>
            <a:off x="365760" y="5161957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+ SHAP working execution, as described in the paper.</a:t>
            </a:r>
            <a:endParaRPr lang="en-US" sz="1100" dirty="0"/>
          </a:p>
        </p:txBody>
      </p:sp>
      <p:pic>
        <p:nvPicPr>
          <p:cNvPr id="35" name="Image 1" descr="shap_synthetic.png">
            <a:extLst>
              <a:ext uri="{FF2B5EF4-FFF2-40B4-BE49-F238E27FC236}">
                <a16:creationId xmlns:a16="http://schemas.microsoft.com/office/drawing/2014/main" id="{C1C87AB3-3E44-45D7-8BF1-F0984268C0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09360" y="2011680"/>
            <a:ext cx="5120640" cy="3680460"/>
          </a:xfrm>
          <a:prstGeom prst="rect">
            <a:avLst/>
          </a:prstGeom>
        </p:spPr>
      </p:pic>
      <p:sp>
        <p:nvSpPr>
          <p:cNvPr id="36" name="Text 8">
            <a:extLst>
              <a:ext uri="{FF2B5EF4-FFF2-40B4-BE49-F238E27FC236}">
                <a16:creationId xmlns:a16="http://schemas.microsoft.com/office/drawing/2014/main" id="{8A83B85F-3796-4971-94F9-EAC7651FC2B7}"/>
              </a:ext>
            </a:extLst>
          </p:cNvPr>
          <p:cNvSpPr/>
          <p:nvPr/>
        </p:nvSpPr>
        <p:spPr>
          <a:xfrm>
            <a:off x="6309360" y="57835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age and lesion site (lower extremity, head/neck) carry the highest average impact on the fused prediction — consistent with known clinical risk patterns.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979648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3618700" y="59474"/>
            <a:ext cx="7874598" cy="875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 &amp; 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429357-D926-4AA3-9D57-D956320C511C}"/>
              </a:ext>
            </a:extLst>
          </p:cNvPr>
          <p:cNvSpPr txBox="1"/>
          <p:nvPr/>
        </p:nvSpPr>
        <p:spPr>
          <a:xfrm>
            <a:off x="295836" y="37477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prstClr val="black"/>
                </a:solidFill>
                <a:latin typeface="Calibri" panose="020F0502020204030204"/>
              </a:rPr>
              <a:t>16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6610A72-B2B9-4118-8822-8FA38E93F636}"/>
              </a:ext>
            </a:extLst>
          </p:cNvPr>
          <p:cNvSpPr/>
          <p:nvPr/>
        </p:nvSpPr>
        <p:spPr>
          <a:xfrm>
            <a:off x="7888941" y="1452103"/>
            <a:ext cx="2667896" cy="157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Proposed pipeline on MILK10k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9DBC16E-9544-4879-A68C-5B40C9B5C451}"/>
              </a:ext>
            </a:extLst>
          </p:cNvPr>
          <p:cNvSpPr/>
          <p:nvPr/>
        </p:nvSpPr>
        <p:spPr>
          <a:xfrm>
            <a:off x="6583680" y="1783080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F7FAFA"/>
          </a:solidFill>
          <a:ln w="12700">
            <a:solidFill>
              <a:srgbClr val="C9DEDC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2A7AC15-C643-459D-86EA-C73A8F3207F5}"/>
              </a:ext>
            </a:extLst>
          </p:cNvPr>
          <p:cNvSpPr/>
          <p:nvPr/>
        </p:nvSpPr>
        <p:spPr>
          <a:xfrm>
            <a:off x="6583680" y="17830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62C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Paired input — clinical close-up + dermoscopic image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F798592-16B8-42CE-8379-B865D3468406}"/>
              </a:ext>
            </a:extLst>
          </p:cNvPr>
          <p:cNvSpPr/>
          <p:nvPr/>
        </p:nvSpPr>
        <p:spPr>
          <a:xfrm>
            <a:off x="8983980" y="2240280"/>
            <a:ext cx="0" cy="164592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095A2D6-3D61-4170-9278-4C8DF7DF2913}"/>
              </a:ext>
            </a:extLst>
          </p:cNvPr>
          <p:cNvSpPr/>
          <p:nvPr/>
        </p:nvSpPr>
        <p:spPr>
          <a:xfrm>
            <a:off x="6583680" y="2404872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F7FAFA"/>
          </a:solidFill>
          <a:ln w="12700">
            <a:solidFill>
              <a:srgbClr val="C9DEDC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1EAF020-5495-4D14-9C67-3B619EEEC7DE}"/>
              </a:ext>
            </a:extLst>
          </p:cNvPr>
          <p:cNvSpPr/>
          <p:nvPr/>
        </p:nvSpPr>
        <p:spPr>
          <a:xfrm>
            <a:off x="6583680" y="240487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62C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Fusion encoder  (CNN + ViT backbone)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880E205-0D38-41F9-8E9A-E61E4177CA2A}"/>
              </a:ext>
            </a:extLst>
          </p:cNvPr>
          <p:cNvSpPr/>
          <p:nvPr/>
        </p:nvSpPr>
        <p:spPr>
          <a:xfrm>
            <a:off x="8983980" y="2862072"/>
            <a:ext cx="0" cy="164592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7D87C43-9ADE-4B0D-9A12-DBDC07944D43}"/>
              </a:ext>
            </a:extLst>
          </p:cNvPr>
          <p:cNvSpPr/>
          <p:nvPr/>
        </p:nvSpPr>
        <p:spPr>
          <a:xfrm>
            <a:off x="6579108" y="3076956"/>
            <a:ext cx="4800600" cy="1417320"/>
          </a:xfrm>
          <a:prstGeom prst="roundRect">
            <a:avLst>
              <a:gd name="adj" fmla="val 6452"/>
            </a:avLst>
          </a:prstGeom>
          <a:solidFill>
            <a:schemeClr val="accent1">
              <a:lumMod val="75000"/>
            </a:schemeClr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DD9319E-C71B-446F-9075-1BFA20A781B8}"/>
              </a:ext>
            </a:extLst>
          </p:cNvPr>
          <p:cNvSpPr/>
          <p:nvPr/>
        </p:nvSpPr>
        <p:spPr>
          <a:xfrm>
            <a:off x="6583680" y="309981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CONCEPT BOTTLENECK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636AC6D-2AFE-4959-9B33-8CA4CBC086A9}"/>
              </a:ext>
            </a:extLst>
          </p:cNvPr>
          <p:cNvSpPr/>
          <p:nvPr/>
        </p:nvSpPr>
        <p:spPr>
          <a:xfrm>
            <a:off x="6807708" y="3392424"/>
            <a:ext cx="1374648" cy="384047"/>
          </a:xfrm>
          <a:prstGeom prst="roundRect">
            <a:avLst>
              <a:gd name="adj" fmla="val 83333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ACEDD58-B2E2-4B3D-915B-6D953EB4885B}"/>
              </a:ext>
            </a:extLst>
          </p:cNvPr>
          <p:cNvSpPr/>
          <p:nvPr/>
        </p:nvSpPr>
        <p:spPr>
          <a:xfrm>
            <a:off x="6812280" y="3392424"/>
            <a:ext cx="1374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62C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Pigmentation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FF4FBAC-B1AB-41CF-80A6-496C8B7C88CE}"/>
              </a:ext>
            </a:extLst>
          </p:cNvPr>
          <p:cNvSpPr/>
          <p:nvPr/>
        </p:nvSpPr>
        <p:spPr>
          <a:xfrm>
            <a:off x="8292084" y="3397504"/>
            <a:ext cx="1374648" cy="403860"/>
          </a:xfrm>
          <a:prstGeom prst="roundRect">
            <a:avLst>
              <a:gd name="adj" fmla="val 83333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C69739A-C3C0-41BC-9B9D-32F45A822FE1}"/>
              </a:ext>
            </a:extLst>
          </p:cNvPr>
          <p:cNvSpPr/>
          <p:nvPr/>
        </p:nvSpPr>
        <p:spPr>
          <a:xfrm>
            <a:off x="8296656" y="3392424"/>
            <a:ext cx="1374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62C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Ulceration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72F4D0E-1E61-4E40-A56F-13413C82414A}"/>
              </a:ext>
            </a:extLst>
          </p:cNvPr>
          <p:cNvSpPr/>
          <p:nvPr/>
        </p:nvSpPr>
        <p:spPr>
          <a:xfrm>
            <a:off x="9781032" y="3392424"/>
            <a:ext cx="1374648" cy="384048"/>
          </a:xfrm>
          <a:prstGeom prst="roundRect">
            <a:avLst>
              <a:gd name="adj" fmla="val 83333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A025431-FD4C-48CE-902C-6070E47432F8}"/>
              </a:ext>
            </a:extLst>
          </p:cNvPr>
          <p:cNvSpPr/>
          <p:nvPr/>
        </p:nvSpPr>
        <p:spPr>
          <a:xfrm>
            <a:off x="9781032" y="3392424"/>
            <a:ext cx="1374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62C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Erythema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1EDCA16-954A-41C3-A140-F11E52F2B9C5}"/>
              </a:ext>
            </a:extLst>
          </p:cNvPr>
          <p:cNvSpPr/>
          <p:nvPr/>
        </p:nvSpPr>
        <p:spPr>
          <a:xfrm>
            <a:off x="6812280" y="3886200"/>
            <a:ext cx="1374648" cy="384048"/>
          </a:xfrm>
          <a:prstGeom prst="roundRect">
            <a:avLst>
              <a:gd name="adj" fmla="val 83333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4FB069A-1D7C-48F5-B5BA-68B4D32FC369}"/>
              </a:ext>
            </a:extLst>
          </p:cNvPr>
          <p:cNvSpPr/>
          <p:nvPr/>
        </p:nvSpPr>
        <p:spPr>
          <a:xfrm>
            <a:off x="6812280" y="3886200"/>
            <a:ext cx="1374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62C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Vessel pattern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416DFFB3-4696-409D-8145-4877AF0C8760}"/>
              </a:ext>
            </a:extLst>
          </p:cNvPr>
          <p:cNvSpPr/>
          <p:nvPr/>
        </p:nvSpPr>
        <p:spPr>
          <a:xfrm>
            <a:off x="8296656" y="3886200"/>
            <a:ext cx="1374648" cy="384048"/>
          </a:xfrm>
          <a:prstGeom prst="roundRect">
            <a:avLst>
              <a:gd name="adj" fmla="val 83333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8256ED1-D685-4AAF-A30E-54BAC08E2C87}"/>
              </a:ext>
            </a:extLst>
          </p:cNvPr>
          <p:cNvSpPr/>
          <p:nvPr/>
        </p:nvSpPr>
        <p:spPr>
          <a:xfrm>
            <a:off x="8296656" y="3886200"/>
            <a:ext cx="1374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62C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Asymmetry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D035361-B243-43AC-852F-9B6101384B87}"/>
              </a:ext>
            </a:extLst>
          </p:cNvPr>
          <p:cNvSpPr/>
          <p:nvPr/>
        </p:nvSpPr>
        <p:spPr>
          <a:xfrm>
            <a:off x="9781032" y="3886200"/>
            <a:ext cx="1374648" cy="384048"/>
          </a:xfrm>
          <a:prstGeom prst="roundRect">
            <a:avLst>
              <a:gd name="adj" fmla="val 83333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ADC34F1-2435-4261-B9FD-02646B034962}"/>
              </a:ext>
            </a:extLst>
          </p:cNvPr>
          <p:cNvSpPr/>
          <p:nvPr/>
        </p:nvSpPr>
        <p:spPr>
          <a:xfrm>
            <a:off x="9781032" y="3886200"/>
            <a:ext cx="1374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62C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Border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A456FD9-11B3-4DC3-8262-6D16F4524B11}"/>
              </a:ext>
            </a:extLst>
          </p:cNvPr>
          <p:cNvSpPr/>
          <p:nvPr/>
        </p:nvSpPr>
        <p:spPr>
          <a:xfrm>
            <a:off x="8983980" y="4443984"/>
            <a:ext cx="0" cy="164592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D6F13B8-8A8B-4F22-AF37-63974365D422}"/>
              </a:ext>
            </a:extLst>
          </p:cNvPr>
          <p:cNvSpPr/>
          <p:nvPr/>
        </p:nvSpPr>
        <p:spPr>
          <a:xfrm>
            <a:off x="6583680" y="4608576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F7FAFA"/>
          </a:solidFill>
          <a:ln w="12700">
            <a:solidFill>
              <a:srgbClr val="C9DEDC"/>
            </a:solidFill>
            <a:prstDash val="solid"/>
          </a:ln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F7659C7-1591-49AD-8464-430C549027B0}"/>
              </a:ext>
            </a:extLst>
          </p:cNvPr>
          <p:cNvSpPr/>
          <p:nvPr/>
        </p:nvSpPr>
        <p:spPr>
          <a:xfrm>
            <a:off x="6583680" y="460857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62C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Interpretable linear classifier  ( w·concepts + b 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A79D68E-66B7-43C6-B4DA-F0BC7B596961}"/>
              </a:ext>
            </a:extLst>
          </p:cNvPr>
          <p:cNvSpPr/>
          <p:nvPr/>
        </p:nvSpPr>
        <p:spPr>
          <a:xfrm>
            <a:off x="8983980" y="5065776"/>
            <a:ext cx="0" cy="164592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55559D07-7C58-442E-91BF-599F8CE75B7F}"/>
              </a:ext>
            </a:extLst>
          </p:cNvPr>
          <p:cNvSpPr/>
          <p:nvPr/>
        </p:nvSpPr>
        <p:spPr>
          <a:xfrm>
            <a:off x="6583680" y="5230368"/>
            <a:ext cx="4800600" cy="457200"/>
          </a:xfrm>
          <a:prstGeom prst="roundRect">
            <a:avLst>
              <a:gd name="adj" fmla="val 16000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14865C7-E2BB-41C5-B4F6-F79D6E698066}"/>
              </a:ext>
            </a:extLst>
          </p:cNvPr>
          <p:cNvSpPr/>
          <p:nvPr/>
        </p:nvSpPr>
        <p:spPr>
          <a:xfrm>
            <a:off x="6583680" y="52303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Diagnosis — 48 ISIC-DX classes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7E62D0-B99B-44E2-9101-F5B3D9C5198A}"/>
              </a:ext>
            </a:extLst>
          </p:cNvPr>
          <p:cNvSpPr/>
          <p:nvPr/>
        </p:nvSpPr>
        <p:spPr>
          <a:xfrm>
            <a:off x="295836" y="1234769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Concept Bottleneck Modeling on MILK10k, trading a black box for a model that shows its clinical reasoning.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continuing to refine the CNN / </a:t>
            </a:r>
            <a:r>
              <a:rPr lang="en-US" dirty="0" err="1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r>
              <a:rPr lang="en-US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fusion stack, the next step is to make the decision itself interpretable.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B26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Concept Bottleneck Model (CBM) first predicts human-defined clinical concepts like pigmentation, ulceration, erythema, vessel pattern, and diagnoses only from those concepts.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B26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every prediction is traceable to dermatologist-legible evidence, and a clinician can correct a wrong concept at inference time.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044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891688" y="98915"/>
            <a:ext cx="7874598" cy="875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429357-D926-4AA3-9D57-D956320C511C}"/>
              </a:ext>
            </a:extLst>
          </p:cNvPr>
          <p:cNvSpPr txBox="1"/>
          <p:nvPr/>
        </p:nvSpPr>
        <p:spPr>
          <a:xfrm>
            <a:off x="295836" y="37477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>
                <a:solidFill>
                  <a:prstClr val="black"/>
                </a:solidFill>
                <a:latin typeface="Calibri" panose="020F0502020204030204"/>
              </a:rPr>
              <a:t>1</a:t>
            </a:r>
            <a:r>
              <a:rPr lang="en-IN" dirty="0">
                <a:solidFill>
                  <a:prstClr val="black"/>
                </a:solidFill>
                <a:latin typeface="Calibri" panose="020F0502020204030204"/>
              </a:rPr>
              <a:t>7</a:t>
            </a:r>
            <a:r>
              <a: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32C338-3829-45EA-9A0D-E30DD36C0D4F}"/>
              </a:ext>
            </a:extLst>
          </p:cNvPr>
          <p:cNvSpPr/>
          <p:nvPr/>
        </p:nvSpPr>
        <p:spPr>
          <a:xfrm>
            <a:off x="161366" y="1058126"/>
            <a:ext cx="6095999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/>
              <a:t>[1] Agrawal, P., </a:t>
            </a:r>
            <a:r>
              <a:rPr lang="en-IN" sz="1400" dirty="0" err="1"/>
              <a:t>Fontanals-Cirera</a:t>
            </a:r>
            <a:r>
              <a:rPr lang="en-IN" sz="1400" dirty="0"/>
              <a:t>, B., </a:t>
            </a:r>
            <a:r>
              <a:rPr lang="en-IN" sz="1400" dirty="0" err="1"/>
              <a:t>Sokolova</a:t>
            </a:r>
            <a:r>
              <a:rPr lang="en-IN" sz="1400" dirty="0"/>
              <a:t>, E., Jacob, S., </a:t>
            </a:r>
            <a:r>
              <a:rPr lang="en-IN" sz="1400" dirty="0" err="1"/>
              <a:t>Vaiana</a:t>
            </a:r>
            <a:r>
              <a:rPr lang="en-IN" sz="1400" dirty="0"/>
              <a:t>, C. A., </a:t>
            </a:r>
            <a:r>
              <a:rPr lang="en-IN" sz="1400" dirty="0" err="1"/>
              <a:t>Argibay</a:t>
            </a:r>
            <a:r>
              <a:rPr lang="en-IN" sz="1400" dirty="0"/>
              <a:t>, D., Davalos, V., McDermott, M., Nayak, S., </a:t>
            </a:r>
            <a:r>
              <a:rPr lang="en-IN" sz="1400" dirty="0" err="1"/>
              <a:t>Darvishian</a:t>
            </a:r>
            <a:r>
              <a:rPr lang="en-IN" sz="1400" dirty="0"/>
              <a:t>, F., Castillo, M., </a:t>
            </a:r>
            <a:r>
              <a:rPr lang="en-IN" sz="1400" dirty="0" err="1"/>
              <a:t>Ueberheide</a:t>
            </a:r>
            <a:r>
              <a:rPr lang="en-IN" sz="1400" dirty="0"/>
              <a:t>, B., Osman, I., </a:t>
            </a:r>
            <a:r>
              <a:rPr lang="en-IN" sz="1400" dirty="0" err="1"/>
              <a:t>Fenyö</a:t>
            </a:r>
            <a:r>
              <a:rPr lang="en-IN" sz="1400" dirty="0"/>
              <a:t>, D., Mahal, L. K., &amp; Hernando, E. (2017). A Systems Biology Approach Identifies FUT8 as a Driver of Melanoma Metastasis. Cancer Cell, 31(6), 804-819.e7. </a:t>
            </a:r>
            <a:r>
              <a:rPr lang="en-IN" sz="1400" u="sng" dirty="0">
                <a:solidFill>
                  <a:schemeClr val="accent1">
                    <a:lumMod val="50000"/>
                  </a:schemeClr>
                </a:solidFill>
                <a:hlinkClick r:id="rId5"/>
              </a:rPr>
              <a:t>https://doi.org/10.1016/j.ccell.2017.05.007</a:t>
            </a:r>
            <a:r>
              <a:rPr lang="en-IN" sz="1400" u="sn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IN" sz="1400" dirty="0">
                <a:solidFill>
                  <a:schemeClr val="accent1">
                    <a:lumMod val="50000"/>
                  </a:schemeClr>
                </a:solidFill>
              </a:rPr>
              <a:t>Cited </a:t>
            </a:r>
            <a:r>
              <a:rPr lang="en-IN" sz="1400" dirty="0"/>
              <a:t>by: 345</a:t>
            </a:r>
          </a:p>
          <a:p>
            <a:r>
              <a:rPr lang="en-IN" sz="1400" dirty="0"/>
              <a:t>[2] Bae, G. H., Hartman, R. I., Joyce, C., &amp; </a:t>
            </a:r>
            <a:r>
              <a:rPr lang="en-IN" sz="1400" dirty="0" err="1"/>
              <a:t>Mostaghimi</a:t>
            </a:r>
            <a:r>
              <a:rPr lang="en-IN" sz="1400" dirty="0"/>
              <a:t>, A. (2016). Comparing dermatology referral patterns and diagnostic accuracy between nonphysician providers, physician trainees, and attending physicians. Journal of the American Academy of Dermatology, 75(1), 226-227. </a:t>
            </a:r>
            <a:r>
              <a:rPr lang="en-IN" sz="1400" dirty="0">
                <a:hlinkClick r:id="rId6"/>
              </a:rPr>
              <a:t>https://doi.org/10.1016/j.jaad.2016.02.1213</a:t>
            </a:r>
            <a:r>
              <a:rPr lang="en-IN" sz="1400" dirty="0"/>
              <a:t> Cited by: 9</a:t>
            </a:r>
          </a:p>
          <a:p>
            <a:r>
              <a:rPr lang="en-IN" sz="1400" dirty="0"/>
              <a:t>[3] Romero-Lopez, A., Giro-</a:t>
            </a:r>
            <a:r>
              <a:rPr lang="en-IN" sz="1400" dirty="0" err="1"/>
              <a:t>i</a:t>
            </a:r>
            <a:r>
              <a:rPr lang="en-IN" sz="1400" dirty="0"/>
              <a:t>-Nieto, X., Burdick, J., &amp; Marques, O. (2017). Skin Lesion Classification from </a:t>
            </a:r>
            <a:r>
              <a:rPr lang="en-IN" sz="1400" dirty="0" err="1"/>
              <a:t>Dermoscopic</a:t>
            </a:r>
            <a:r>
              <a:rPr lang="en-IN" sz="1400" dirty="0"/>
              <a:t> Images Using Deep Learning Techniques. Biomedical Engineering. </a:t>
            </a:r>
            <a:r>
              <a:rPr lang="en-IN" sz="1400" dirty="0">
                <a:hlinkClick r:id="rId7"/>
              </a:rPr>
              <a:t>https://doi.org/10.2316/p.2017.852-053</a:t>
            </a:r>
            <a:r>
              <a:rPr lang="en-IN" sz="1400" dirty="0"/>
              <a:t> Cited by: 545</a:t>
            </a:r>
          </a:p>
          <a:p>
            <a:r>
              <a:rPr lang="en-IN" sz="1400" dirty="0"/>
              <a:t>[4] </a:t>
            </a:r>
            <a:r>
              <a:rPr lang="en-IN" sz="1400" dirty="0" err="1"/>
              <a:t>Sharafudeen</a:t>
            </a:r>
            <a:r>
              <a:rPr lang="en-IN" sz="1400" dirty="0"/>
              <a:t>, M., &amp; S </a:t>
            </a:r>
            <a:r>
              <a:rPr lang="en-IN" sz="1400" dirty="0" err="1"/>
              <a:t>S</a:t>
            </a:r>
            <a:r>
              <a:rPr lang="en-IN" sz="1400" dirty="0"/>
              <a:t>, V. C. (2023). An Integrated Ensemble Network Model for Skin Abnormality Detection with Combined Textural Features. Journal of Digital Imaging, 36(5), 1723-1738. </a:t>
            </a:r>
            <a:r>
              <a:rPr lang="en-IN" sz="1400" dirty="0">
                <a:hlinkClick r:id="rId8"/>
              </a:rPr>
              <a:t>https://doi.org/10.1007/s10278-023-00837-6</a:t>
            </a:r>
            <a:r>
              <a:rPr lang="en-IN" sz="1400" dirty="0"/>
              <a:t> Cited by: 16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0CDE4D-4D7F-4928-AA95-A76E870698AC}"/>
              </a:ext>
            </a:extLst>
          </p:cNvPr>
          <p:cNvSpPr/>
          <p:nvPr/>
        </p:nvSpPr>
        <p:spPr>
          <a:xfrm>
            <a:off x="6167719" y="1067018"/>
            <a:ext cx="5862915" cy="5144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/>
              <a:t>[5]Chen, J., Lu, Y., Yu, Q., et al. (2021). </a:t>
            </a:r>
            <a:r>
              <a:rPr lang="en-IN" sz="1400" dirty="0" err="1"/>
              <a:t>TransUNet</a:t>
            </a:r>
            <a:r>
              <a:rPr lang="en-IN" sz="1400" dirty="0"/>
              <a:t>: Transformers Make Strong Encoders for Medical Image Segmentation. </a:t>
            </a:r>
            <a:r>
              <a:rPr lang="en-IN" sz="1400" dirty="0" err="1"/>
              <a:t>arXiv</a:t>
            </a:r>
            <a:r>
              <a:rPr lang="en-IN" sz="1400" dirty="0"/>
              <a:t>. </a:t>
            </a:r>
            <a:r>
              <a:rPr lang="en-IN" sz="1400" dirty="0">
                <a:hlinkClick r:id="rId9"/>
              </a:rPr>
              <a:t>https://doi.org/10.48550/arxiv.2102.04306</a:t>
            </a:r>
            <a:r>
              <a:rPr lang="en-IN" sz="1400" dirty="0"/>
              <a:t> Cited by: 10705</a:t>
            </a:r>
          </a:p>
          <a:p>
            <a:r>
              <a:rPr lang="en-IN" sz="1400" dirty="0"/>
              <a:t>[6]</a:t>
            </a:r>
            <a:r>
              <a:rPr lang="en-IN" sz="1400" dirty="0" err="1"/>
              <a:t>Dosovitskiy</a:t>
            </a:r>
            <a:r>
              <a:rPr lang="en-IN" sz="1400" dirty="0"/>
              <a:t>, A., Beyer, L., Kolesnikov, A., et al. (2020). An Image is Worth 16x16 Words: Transformers for Image Recognition at Scale. </a:t>
            </a:r>
            <a:r>
              <a:rPr lang="en-IN" sz="1400" dirty="0" err="1"/>
              <a:t>arXiv</a:t>
            </a:r>
            <a:r>
              <a:rPr lang="en-IN" sz="1400" dirty="0"/>
              <a:t>. </a:t>
            </a:r>
            <a:r>
              <a:rPr lang="en-IN" sz="1400" dirty="0">
                <a:hlinkClick r:id="rId10"/>
              </a:rPr>
              <a:t>https://doi.org/10.48550/arxiv.2010.11929</a:t>
            </a:r>
            <a:r>
              <a:rPr lang="en-IN" sz="1400" dirty="0"/>
              <a:t> Cited by: 101027</a:t>
            </a:r>
          </a:p>
          <a:p>
            <a:r>
              <a:rPr lang="en-IN" sz="1400" dirty="0"/>
              <a:t>[7]Hernández-Pérez, C., </a:t>
            </a:r>
            <a:r>
              <a:rPr lang="en-IN" sz="1400" dirty="0" err="1"/>
              <a:t>Combalia</a:t>
            </a:r>
            <a:r>
              <a:rPr lang="en-IN" sz="1400" dirty="0"/>
              <a:t>, M., </a:t>
            </a:r>
            <a:r>
              <a:rPr lang="en-IN" sz="1400" dirty="0" err="1"/>
              <a:t>Podlipnik</a:t>
            </a:r>
            <a:r>
              <a:rPr lang="en-IN" sz="1400" dirty="0"/>
              <a:t>, S., et al. (2024). BCN20000: </a:t>
            </a:r>
            <a:r>
              <a:rPr lang="en-IN" sz="1400" dirty="0" err="1"/>
              <a:t>Dermoscopic</a:t>
            </a:r>
            <a:r>
              <a:rPr lang="en-IN" sz="1400" dirty="0"/>
              <a:t> Lesions in the Wild. Scientific Data, 11. </a:t>
            </a:r>
            <a:r>
              <a:rPr lang="en-IN" sz="1400" dirty="0">
                <a:hlinkClick r:id="rId11"/>
              </a:rPr>
              <a:t>https://doi.org/10.1038/s41597-024-03387-w</a:t>
            </a:r>
            <a:r>
              <a:rPr lang="en-IN" sz="1400" dirty="0"/>
              <a:t> Cited by: 177</a:t>
            </a:r>
          </a:p>
          <a:p>
            <a:r>
              <a:rPr lang="en-IN" sz="1400" dirty="0"/>
              <a:t>[8]Huang, G., Liu, Z., Van Der </a:t>
            </a:r>
            <a:r>
              <a:rPr lang="en-IN" sz="1400" dirty="0" err="1"/>
              <a:t>Maaten</a:t>
            </a:r>
            <a:r>
              <a:rPr lang="en-IN" sz="1400" dirty="0"/>
              <a:t>, L., &amp; Weinberger, K. Q. (2017). Densely Connected Convolutional Networks. 2017 IEEE Conference on Computer Vision and Pattern Recognition (CVPR). </a:t>
            </a:r>
            <a:r>
              <a:rPr lang="en-IN" sz="1400" dirty="0">
                <a:hlinkClick r:id="rId12"/>
              </a:rPr>
              <a:t>https://doi.org/10.1109/cvpr.2017.243</a:t>
            </a:r>
            <a:r>
              <a:rPr lang="en-IN" sz="1400" dirty="0"/>
              <a:t> Cited by: 65080</a:t>
            </a:r>
          </a:p>
          <a:p>
            <a:r>
              <a:rPr lang="en-IN" sz="1400" dirty="0"/>
              <a:t>[9]</a:t>
            </a:r>
            <a:r>
              <a:rPr lang="en-IN" sz="1400" dirty="0" err="1"/>
              <a:t>Selvaraju</a:t>
            </a:r>
            <a:r>
              <a:rPr lang="en-IN" sz="1400" dirty="0"/>
              <a:t>, R. R., Cogswell, M., Das, A., et al. (2016). Grad-CAM: Visual Explanations from Deep Networks via Gradient-based Localization. </a:t>
            </a:r>
            <a:r>
              <a:rPr lang="en-IN" sz="1400" dirty="0" err="1"/>
              <a:t>arXiv</a:t>
            </a:r>
            <a:r>
              <a:rPr lang="en-IN" sz="1400" dirty="0"/>
              <a:t>. </a:t>
            </a:r>
            <a:r>
              <a:rPr lang="en-IN" sz="1400" dirty="0">
                <a:hlinkClick r:id="rId13"/>
              </a:rPr>
              <a:t>https://doi.org/10.1007/s11263-019-01228-7</a:t>
            </a:r>
            <a:r>
              <a:rPr lang="en-IN" sz="1400" dirty="0"/>
              <a:t> Cited by: 34308</a:t>
            </a:r>
          </a:p>
          <a:p>
            <a:r>
              <a:rPr lang="en-IN" sz="1400" dirty="0"/>
              <a:t>[10]Tan, M., &amp; Le, Q. V. (2019). </a:t>
            </a:r>
            <a:r>
              <a:rPr lang="en-IN" sz="1400" dirty="0" err="1"/>
              <a:t>EfficientNet</a:t>
            </a:r>
            <a:r>
              <a:rPr lang="en-IN" sz="1400" dirty="0"/>
              <a:t>: Rethinking Model Scaling for Convolutional Neural Networks. International Conference on Machine Learning, 2019. </a:t>
            </a:r>
            <a:r>
              <a:rPr lang="en-IN" sz="1400" dirty="0">
                <a:hlinkClick r:id="rId14"/>
              </a:rPr>
              <a:t>https://doi.org/10.48550/arxiv.1905.11946</a:t>
            </a:r>
            <a:r>
              <a:rPr lang="en-IN" sz="1400" dirty="0"/>
              <a:t> Cited by: 39929 [11]</a:t>
            </a:r>
            <a:r>
              <a:rPr lang="en-IN" sz="1400" dirty="0" err="1"/>
              <a:t>Tschandl</a:t>
            </a:r>
            <a:r>
              <a:rPr lang="en-IN" sz="1400" dirty="0"/>
              <a:t>, P., Rosendahl, C., &amp; Kittler, H. (2018). The HAM10000 dataset, a large collection of multi-source </a:t>
            </a:r>
            <a:r>
              <a:rPr lang="en-IN" sz="1400" dirty="0" err="1"/>
              <a:t>dermatoscopic</a:t>
            </a:r>
            <a:r>
              <a:rPr lang="en-IN" sz="1400" dirty="0"/>
              <a:t> images of common pigmented skin lesions. Sci. Data 5, 180161 (2018). </a:t>
            </a:r>
            <a:r>
              <a:rPr lang="en-IN" sz="1400" dirty="0">
                <a:hlinkClick r:id="rId15"/>
              </a:rPr>
              <a:t>https://doi.org/10.1038/sdata.2018.161</a:t>
            </a:r>
            <a:r>
              <a:rPr lang="en-IN" sz="1400" dirty="0"/>
              <a:t> Cited by: 5511</a:t>
            </a:r>
          </a:p>
        </p:txBody>
      </p:sp>
    </p:spTree>
    <p:extLst>
      <p:ext uri="{BB962C8B-B14F-4D97-AF65-F5344CB8AC3E}">
        <p14:creationId xmlns:p14="http://schemas.microsoft.com/office/powerpoint/2010/main" val="247466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3420932" y="14546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CNN + GBDT Stacking (Baseline 3)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Method1FlowDiagram">
            <a:extLst>
              <a:ext uri="{FF2B5EF4-FFF2-40B4-BE49-F238E27FC236}">
                <a16:creationId xmlns:a16="http://schemas.microsoft.com/office/drawing/2014/main" id="{155F021C-C06D-4073-B4C9-ACB3624FCC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>
          <a:xfrm>
            <a:off x="3954836" y="1450000"/>
            <a:ext cx="7900000" cy="3584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E87BF8-726D-4F40-9E9F-640BE0AFB441}"/>
              </a:ext>
            </a:extLst>
          </p:cNvPr>
          <p:cNvSpPr txBox="1"/>
          <p:nvPr/>
        </p:nvSpPr>
        <p:spPr>
          <a:xfrm>
            <a:off x="221672" y="354709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20DCE4-355B-4EAB-A24D-8EBE701DF9F3}"/>
              </a:ext>
            </a:extLst>
          </p:cNvPr>
          <p:cNvSpPr txBox="1"/>
          <p:nvPr/>
        </p:nvSpPr>
        <p:spPr>
          <a:xfrm>
            <a:off x="221672" y="1000000"/>
            <a:ext cx="3733164" cy="5400000"/>
          </a:xfrm>
          <a:prstGeom prst="rect">
            <a:avLst/>
          </a:prstGeom>
          <a:noFill/>
        </p:spPr>
        <p:txBody>
          <a:bodyPr wrap="square" rtlCol="0">
            <a:normAutofit fontScale="90000" lnSpcReduction="10000"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Pipeline: </a:t>
            </a:r>
            <a:r>
              <a:rPr lang="en-US" altLang="en-US" sz="1400" dirty="0">
                <a:latin typeface="Arial" panose="020B0604020202020204" pitchFamily="34" charset="0"/>
              </a:rPr>
              <a:t>ConvNeXt-Base image backbone (5-fold OOF class probabilities) stacked with an </a:t>
            </a:r>
            <a:r>
              <a:rPr lang="en-US" altLang="en-US" sz="1400" b="1" dirty="0">
                <a:latin typeface="Arial" panose="020B0604020202020204" pitchFamily="34" charset="0"/>
              </a:rPr>
              <a:t>XGBoost</a:t>
            </a:r>
            <a:r>
              <a:rPr lang="en-US" altLang="en-US" sz="1400" dirty="0">
                <a:latin typeface="Arial" panose="020B0604020202020204" pitchFamily="34" charset="0"/>
              </a:rPr>
              <a:t> meta-classifier on patient metadata — the two-stage “CNN + GBDT” pattern.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Inspired by: </a:t>
            </a:r>
            <a:r>
              <a:rPr lang="en-US" altLang="en-US" sz="1300" dirty="0">
                <a:latin typeface="Arial" panose="020B0604020202020204" pitchFamily="34" charset="0"/>
              </a:rPr>
              <a:t>the dominant ISIC 2024 “Skin Cancer Detection with 3D-TBP” winning pattern — stacking CNN out-of-fold probabilities with LightGBM/XGBoost/CatBoost on tabular metadata; traces back to Ha, Liu &amp; Liu (2020), the SIIM-ISIC 2020 winning ensemble.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lang="en-US" altLang="en-US" sz="1400" b="1" u="sng" dirty="0">
                <a:latin typeface="Arial" panose="020B0604020202020204" pitchFamily="34" charset="0"/>
              </a:rPr>
              <a:t>What matches: </a:t>
            </a:r>
            <a:r>
              <a:rPr lang="en-US" altLang="en-US" sz="1300" dirty="0">
                <a:latin typeface="Arial" panose="020B0604020202020204" pitchFamily="34" charset="0"/>
              </a:rPr>
              <a:t>single-backbone OOF probabilities → GBDT stacking, the winners’ core recipe.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lang="en-US" altLang="en-US" sz="1400" b="1" u="sng" dirty="0">
                <a:latin typeface="Arial" panose="020B0604020202020204" pitchFamily="34" charset="0"/>
              </a:rPr>
              <a:t>What’s missing vs. winners: </a:t>
            </a:r>
            <a:r>
              <a:rPr lang="en-US" altLang="en-US" sz="1300" dirty="0">
                <a:latin typeface="Arial" panose="020B0604020202020204" pitchFamily="34" charset="0"/>
              </a:rPr>
              <a:t>winners ensemble multiple CNN/ViT backbones and 3 GBDT types across 3×5 folds (45 models); we use one backbone + one XGBoost. Winners engineer dozens of handcrafted lesion-geometry features; we use only age/sex/site, and no oversampling for classes with fewer than 20 samples.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Two pipelines tested: </a:t>
            </a:r>
            <a:r>
              <a:rPr lang="en-US" altLang="en-US" sz="1300" dirty="0">
                <a:latin typeface="Arial" panose="020B0604020202020204" pitchFamily="34" charset="0"/>
              </a:rPr>
              <a:t>Pipeline 1 (probabilities + metadata) vs. Pipeline 2 (+ prediction-confidence features) — results on the next slide.</a:t>
            </a:r>
          </a:p>
        </p:txBody>
      </p:sp>
      <p:sp>
        <p:nvSpPr>
          <p:cNvPr id="21" name="Caption1"/>
          <p:cNvSpPr txBox="1"/>
          <p:nvPr/>
        </p:nvSpPr>
        <p:spPr>
          <a:xfrm>
            <a:off x="3954836" y="5100000"/>
            <a:ext cx="790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1F2A5C"/>
                </a:solidFill>
                <a:latin typeface="Arial" pitchFamily="34" charset="0"/>
              </a:rPr>
              <a:t>Fig. Baseline 3 pipeline — ConvNeXt-Base OOF probabilities + metadata → XGBoost stacking</a:t>
            </a:r>
          </a:p>
        </p:txBody>
      </p:sp>
    </p:spTree>
    <p:extLst>
      <p:ext uri="{BB962C8B-B14F-4D97-AF65-F5344CB8AC3E}">
        <p14:creationId xmlns:p14="http://schemas.microsoft.com/office/powerpoint/2010/main" val="2869800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1985324" y="0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3 Results: CNN + GBDT Stacking</a:t>
            </a:r>
            <a:r>
              <a:rPr lang="en-US" sz="2800" b="1" dirty="0" err="1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800" b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E87BF8-726D-4F40-9E9F-640BE0AFB441}"/>
              </a:ext>
            </a:extLst>
          </p:cNvPr>
          <p:cNvSpPr txBox="1"/>
          <p:nvPr/>
        </p:nvSpPr>
        <p:spPr>
          <a:xfrm>
            <a:off x="221672" y="354709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20DCE4-355B-4EAB-A24D-8EBE701DF9F3}"/>
              </a:ext>
            </a:extLst>
          </p:cNvPr>
          <p:cNvSpPr txBox="1"/>
          <p:nvPr/>
        </p:nvSpPr>
        <p:spPr>
          <a:xfrm>
            <a:off x="221672" y="1576454"/>
            <a:ext cx="3733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endParaRPr lang="en-IN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4A1A7E3B-16D1-4404-8E34-8A4D3AA72578}"/>
              </a:ext>
            </a:extLst>
          </p:cNvPr>
          <p:cNvSpPr/>
          <p:nvPr/>
        </p:nvSpPr>
        <p:spPr>
          <a:xfrm>
            <a:off x="5850575" y="950749"/>
            <a:ext cx="5577840" cy="2514600"/>
          </a:xfrm>
          <a:prstGeom prst="rect">
            <a:avLst/>
          </a:prstGeom>
          <a:noFill/>
          <a:ln/>
        </p:spPr>
        <p:txBody>
          <a:p>
            <a:pPr marL="285750" lvl="0" indent="-285750" eaLnBrk="0" fontAlgn="base" hangingPunct="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Pipeline 1: </a:t>
            </a:r>
            <a:r>
              <a:rPr lang="en-US" altLang="en-US" sz="1300" dirty="0">
                <a:latin typeface="Arial" panose="020B0604020202020204" pitchFamily="34" charset="0"/>
              </a:rPr>
              <a:t>Accuracy 69.27%, macro-F1 0.39, log-loss not computed.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Pipeline 2: </a:t>
            </a:r>
            <a:r>
              <a:rPr lang="en-US" altLang="en-US" sz="1300" dirty="0">
                <a:latin typeface="Arial" panose="020B0604020202020204" pitchFamily="34" charset="0"/>
              </a:rPr>
              <a:t>Accuracy 68.99%, macro-F1 0.38, log-loss 0.971 — confidence features made no difference (−0.29 pt).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Both trail the simple image-only baselines already established: </a:t>
            </a:r>
            <a:r>
              <a:rPr lang="en-US" altLang="en-US" sz="1300" dirty="0">
                <a:latin typeface="Arial" panose="020B0604020202020204" pitchFamily="34" charset="0"/>
              </a:rPr>
              <a:t>DenseNet121 71.18% / ViT-B/16 75.50% accuracy.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altLang="en-US" sz="1400" b="1" u="sng" dirty="0">
                <a:latin typeface="Arial" panose="020B0604020202020204" pitchFamily="34" charset="0"/>
              </a:rPr>
              <a:t>Why: </a:t>
            </a:r>
            <a:r>
              <a:rPr lang="en-US" altLang="en-US" sz="1300" dirty="0">
                <a:latin typeface="Arial" panose="020B0604020202020204" pitchFamily="34" charset="0"/>
              </a:rPr>
              <a:t>only 3 metadata fields carry little extra signal beyond the CNN’s own probabilities; rare classes (fewer than 20 samples) get 0 F1 regardless of pipeline; a single backbone can’t match an ensemble.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altLang="en-US" sz="1250" i="1" dirty="0">
                <a:latin typeface="Arial" panose="020B0604020202020204" pitchFamily="34" charset="0"/>
              </a:rPr>
              <a:t>A third variant (CNN summary statistics + full metadata) was engineered but not evaluated — Pipeline 1/2 had already plateaued.</a:t>
            </a:r>
          </a:p>
        </p:txBody>
      </p:sp>
      <p:graphicFrame>
        <p:nvGraphicFramePr>
          <p:cNvPr id="16" name="ResultsTable"/>
          <p:cNvGraphicFramePr>
            <a:graphicFrameLocks noGrp="1"/>
          </p:cNvGraphicFramePr>
          <p:nvPr/>
        </p:nvGraphicFramePr>
        <p:xfrm>
          <a:off x="330000" y="4250000"/>
          <a:ext cx="10850000" cy="2050000"/>
        </p:xfrm>
        <a:graphic>
          <a:graphicData uri="http://schemas.openxmlformats.org/drawingml/2006/table">
            <a:tbl>
              <a:tblPr firstRow="1" bandRow="1"/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1 (CNN OOF probs + metadata)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2 (+ prediction-confidence features)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69.27%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68.99%  (−0.29 pt)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Macro-F1 (11-class)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Log-loss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computed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count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7" name="Method1F1Chart" descr="method1_f1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00" y="1180000"/>
            <a:ext cx="5100000" cy="2388000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3646B1F9-84EB-4A80-8E7D-C8BF8218991B}"/>
              </a:ext>
            </a:extLst>
          </p:cNvPr>
          <p:cNvSpPr/>
          <p:nvPr/>
        </p:nvSpPr>
        <p:spPr>
          <a:xfrm>
            <a:off x="330000" y="3620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/>
              <a:t>Fig. Per-class F1 — XGBoost stacking (Pipeline 1 vs. Pipeline 2)</a:t>
            </a:r>
          </a:p>
        </p:txBody>
      </p:sp>
    </p:spTree>
    <p:extLst>
      <p:ext uri="{BB962C8B-B14F-4D97-AF65-F5344CB8AC3E}">
        <p14:creationId xmlns:p14="http://schemas.microsoft.com/office/powerpoint/2010/main" val="1339040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3420932" y="14546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MONET Concept-Fusion Network (Baseline 4)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Method2FlowDiagram">
            <a:extLst>
              <a:ext uri="{FF2B5EF4-FFF2-40B4-BE49-F238E27FC236}">
                <a16:creationId xmlns:a16="http://schemas.microsoft.com/office/drawing/2014/main" id="{155F021C-C06D-4073-B4C9-ACB3624FCC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>
          <a:xfrm>
            <a:off x="3900000" y="1350000"/>
            <a:ext cx="8000000" cy="389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E87BF8-726D-4F40-9E9F-640BE0AFB441}"/>
              </a:ext>
            </a:extLst>
          </p:cNvPr>
          <p:cNvSpPr txBox="1"/>
          <p:nvPr/>
        </p:nvSpPr>
        <p:spPr>
          <a:xfrm>
            <a:off x="221672" y="354709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8.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20DCE4-355B-4EAB-A24D-8EBE701DF9F3}"/>
              </a:ext>
            </a:extLst>
          </p:cNvPr>
          <p:cNvSpPr txBox="1"/>
          <p:nvPr/>
        </p:nvSpPr>
        <p:spPr>
          <a:xfrm>
            <a:off x="221672" y="1000000"/>
            <a:ext cx="3733164" cy="5400000"/>
          </a:xfrm>
          <a:prstGeom prst="rect">
            <a:avLst/>
          </a:prstGeom>
          <a:noFill/>
        </p:spPr>
        <p:txBody>
          <a:bodyPr wrap="square" rtlCol="0">
            <a:normAutofit fontScale="90000" lnSpcReduction="10000"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2800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Pipeline: </a:t>
            </a:r>
            <a:r>
              <a:rPr lang="en-US" altLang="en-US" sz="1300" dirty="0">
                <a:latin typeface="Arial" panose="020B0604020202020204" pitchFamily="34" charset="0"/>
              </a:rPr>
              <a:t>ConvNeXt-Tiny embeddings + disease probs, fused with MONET concept scores and CAAS clinical-evidence features, calibrated by two small nets (Alpha, Beta), then combined in a 7-branch </a:t>
            </a:r>
            <a:r>
              <a:rPr lang="en-US" altLang="en-US" sz="1400" b="1" dirty="0">
                <a:latin typeface="Arial" panose="020B0604020202020204" pitchFamily="34" charset="0"/>
              </a:rPr>
              <a:t>FusionNet</a:t>
            </a:r>
            <a:r>
              <a:rPr lang="en-US" altLang="en-US" sz="1300" dirty="0">
                <a:latin typeface="Arial" panose="020B0604020202020204" pitchFamily="34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2800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Inspired by: </a:t>
            </a:r>
            <a:r>
              <a:rPr lang="en-US" altLang="en-US" sz="1300" dirty="0">
                <a:latin typeface="Arial" panose="020B0604020202020204" pitchFamily="34" charset="0"/>
              </a:rPr>
              <a:t>MONET (Kim et al., 2024, Nature Medicine) — a vision-language foundation model that scores dermatology images on clinical concepts — combined with Concept Bottleneck Models (Koh et al., 2020, ICML). Extends this deck’s own “Future Direction” concept-bottleneck slide into a working pipeline.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28000"/>
              </a:spcAft>
              <a:buFont typeface="Arial" panose="020B0604020202020204" pitchFamily="34" charset="0"/>
              <a:buChar char="•"/>
            </a:pPr>
            <a:r>
              <a:rPr lang="en-US" altLang="en-US" sz="1400" b="1" u="sng" dirty="0">
                <a:latin typeface="Arial" panose="020B0604020202020204" pitchFamily="34" charset="0"/>
              </a:rPr>
              <a:t>What’s different from a true CBM: </a:t>
            </a:r>
            <a:r>
              <a:rPr lang="en-US" altLang="en-US" sz="1300" dirty="0">
                <a:latin typeface="Arial" panose="020B0604020202020204" pitchFamily="34" charset="0"/>
              </a:rPr>
              <a:t>classic bottleneck models restrict the classifier to concepts only (interpretable-by-construction); here concepts are one of several fused inputs alongside the raw embedding, so the model can still shortcut around them — the fusion is not a hard bottleneck.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28000"/>
              </a:spcAft>
              <a:buFont typeface="Arial" panose="020B0604020202020204" pitchFamily="34" charset="0"/>
              <a:buChar char="•"/>
            </a:pPr>
            <a:r>
              <a:rPr lang="en-US" altLang="en-US" sz="1400" b="1" u="sng" dirty="0">
                <a:latin typeface="Arial" panose="020B0604020202020204" pitchFamily="34" charset="0"/>
              </a:rPr>
              <a:t>Scale mismatch: </a:t>
            </a:r>
            <a:r>
              <a:rPr lang="en-US" altLang="en-US" sz="1300" dirty="0">
                <a:latin typeface="Arial" panose="020B0604020202020204" pitchFamily="34" charset="0"/>
              </a:rPr>
              <a:t>Alpha/Beta/FusionNet train on a 2,098-sample representation set, a fifth of the 10,480-image set used for Baseline 3 — results are not directly comparable in scale.</a:t>
            </a:r>
          </a:p>
        </p:txBody>
      </p:sp>
      <p:sp>
        <p:nvSpPr>
          <p:cNvPr id="21" name="Caption1"/>
          <p:cNvSpPr txBox="1"/>
          <p:nvPr/>
        </p:nvSpPr>
        <p:spPr>
          <a:xfrm>
            <a:off x="3900000" y="5300000"/>
            <a:ext cx="800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1F2A5C"/>
                </a:solidFill>
                <a:latin typeface="Arial" pitchFamily="34" charset="0"/>
              </a:rPr>
              <a:t>Fig. Baseline 4 pipeline — ConvNeXt-Tiny + MONET concepts → Alpha/Beta calibration → FusionNet</a:t>
            </a:r>
          </a:p>
        </p:txBody>
      </p:sp>
    </p:spTree>
    <p:extLst>
      <p:ext uri="{BB962C8B-B14F-4D97-AF65-F5344CB8AC3E}">
        <p14:creationId xmlns:p14="http://schemas.microsoft.com/office/powerpoint/2010/main" val="2869800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A8276EC4-11C4-45D4-B2EB-2EA17D743FB6}"/>
              </a:ext>
            </a:extLst>
          </p:cNvPr>
          <p:cNvSpPr/>
          <p:nvPr/>
        </p:nvSpPr>
        <p:spPr>
          <a:xfrm>
            <a:off x="241069" y="3204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939D3DA-B563-4667-93C3-66489864C819}"/>
              </a:ext>
            </a:extLst>
          </p:cNvPr>
          <p:cNvSpPr/>
          <p:nvPr/>
        </p:nvSpPr>
        <p:spPr>
          <a:xfrm>
            <a:off x="553219" y="218381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Baseline 4 Results: MONET Concept-Fusion Network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8812FD01-A3FE-487A-8ADE-1B293179A7F3}"/>
              </a:ext>
            </a:extLst>
          </p:cNvPr>
          <p:cNvSpPr/>
          <p:nvPr/>
        </p:nvSpPr>
        <p:spPr>
          <a:xfrm>
            <a:off x="8778240" y="6483096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F58860C0-663D-4E9A-B45A-44A11F3978DF}"/>
              </a:ext>
            </a:extLst>
          </p:cNvPr>
          <p:cNvSpPr/>
          <p:nvPr/>
        </p:nvSpPr>
        <p:spPr>
          <a:xfrm>
            <a:off x="365760" y="960120"/>
            <a:ext cx="5577840" cy="2697480"/>
          </a:xfrm>
          <a:prstGeom prst="rect">
            <a:avLst/>
          </a:prstGeom>
          <a:noFill/>
          <a:ln/>
        </p:spPr>
        <p:txBody>
          <a:p>
            <a:pPr marL="342900" marR="0" lvl="0" indent="-34290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AlphaNet </a:t>
            </a:r>
            <a:r>
              <a:rPr kumimoji="0" lang="en-US" sz="13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(binary malignant-vs-benign calibration, embedding + CAAS, 5-fold): mean accuracy 78.2%, balanced accuracy 77.1%, macro-F1 75.0%, ROC-AUC 0.845 — a genuinely useful sub-result.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Full FusionNet </a:t>
            </a:r>
            <a:r>
              <a:rPr kumimoji="0" lang="en-US" sz="13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(11-class, all 7 modalities): validation accuracy 67.38%, balanced accuracy 32.35%, macro-F1 31.86%, ROC-AUC 0.892.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Reading it: </a:t>
            </a:r>
            <a:r>
              <a:rPr kumimoji="0" lang="en-US" sz="13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binary malignancy signal calibrates well, but folding it back into 11 fine-grained classes collapses macro-F1 — confirmed by the confusion matrix: predictions crowd into BCC/NV, rare classes get zero recall.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Below the ViT-B/16 baseline </a:t>
            </a:r>
            <a:r>
              <a:rPr kumimoji="0" lang="en-US" sz="13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(75.50% acc, Macro-F1 0.72) despite far greater architectural complexity — likely compounding error across 4 trained stages (backbone → concepts → Alpha/Beta → fusion) on a much smaller sample.</a:t>
            </a:r>
          </a:p>
        </p:txBody>
      </p:sp>
      <p:pic>
        <p:nvPicPr>
          <p:cNvPr id="18" name="Method2AlphaChart" descr="method2_alpha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900000"/>
            <a:ext cx="5120640" cy="1953700"/>
          </a:xfrm>
          <a:prstGeom prst="rect">
            <a:avLst/>
          </a:prstGeom>
        </p:spPr>
      </p:pic>
      <p:pic>
        <p:nvPicPr>
          <p:cNvPr id="19" name="Method2Confusion" descr="method2_confu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1891" y="947046"/>
            <a:ext cx="3600000" cy="3771720"/>
          </a:xfrm>
          <a:prstGeom prst="rect">
            <a:avLst/>
          </a:prstGeom>
        </p:spPr>
      </p:pic>
      <p:sp>
        <p:nvSpPr>
          <p:cNvPr id="21" name="Text 5">
            <a:extLst>
              <a:ext uri="{FF2B5EF4-FFF2-40B4-BE49-F238E27FC236}">
                <a16:creationId xmlns:a16="http://schemas.microsoft.com/office/drawing/2014/main" id="{6F061218-1B2D-4858-868A-2D193C0829DF}"/>
              </a:ext>
            </a:extLst>
          </p:cNvPr>
          <p:cNvSpPr/>
          <p:nvPr/>
        </p:nvSpPr>
        <p:spPr>
          <a:xfrm>
            <a:off x="7441891" y="4780000"/>
            <a:ext cx="36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3" name="Method2Table"/>
          <p:cNvGraphicFramePr>
            <a:graphicFrameLocks noGrp="1"/>
          </p:cNvGraphicFramePr>
          <p:nvPr/>
        </p:nvGraphicFramePr>
        <p:xfrm>
          <a:off x="365760" y="5620000"/>
          <a:ext cx="5120640" cy="800000"/>
        </p:xfrm>
        <a:graphic>
          <a:graphicData uri="http://schemas.openxmlformats.org/drawingml/2006/table">
            <a:tbl>
              <a:tblPr firstRow="1" bandRow="1"/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AlphaNet (binary, 5-fold avg)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FusionNet (11-class)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78.2%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67.4%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Balanced accuracy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77.1%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32.4%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Macro-F1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31.9%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802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1985324" y="0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Across All Four Baselines</a:t>
            </a:r>
            <a:r>
              <a:rPr lang="en-US" sz="2800" b="1" dirty="0" err="1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800" b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E87BF8-726D-4F40-9E9F-640BE0AFB441}"/>
              </a:ext>
            </a:extLst>
          </p:cNvPr>
          <p:cNvSpPr txBox="1"/>
          <p:nvPr/>
        </p:nvSpPr>
        <p:spPr>
          <a:xfrm>
            <a:off x="221672" y="354709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10.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20DCE4-355B-4EAB-A24D-8EBE701DF9F3}"/>
              </a:ext>
            </a:extLst>
          </p:cNvPr>
          <p:cNvSpPr txBox="1"/>
          <p:nvPr/>
        </p:nvSpPr>
        <p:spPr>
          <a:xfrm>
            <a:off x="221672" y="1576454"/>
            <a:ext cx="3733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endParaRPr lang="en-IN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4A1A7E3B-16D1-4404-8E34-8A4D3AA72578}"/>
              </a:ext>
            </a:extLst>
          </p:cNvPr>
          <p:cNvSpPr/>
          <p:nvPr/>
        </p:nvSpPr>
        <p:spPr>
          <a:xfrm>
            <a:off x="573967" y="1000000"/>
            <a:ext cx="11000000" cy="1500000"/>
          </a:xfrm>
          <a:prstGeom prst="rect">
            <a:avLst/>
          </a:prstGeom>
          <a:noFill/>
          <a:ln/>
        </p:spPr>
        <p:txBody>
          <a:p>
            <a:pPr marL="285750" lvl="0" indent="-285750" eaLnBrk="0" fontAlgn="base" hangingPunct="0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Ranking on MILK10k (11-class accuracy): </a:t>
            </a:r>
            <a:r>
              <a:rPr lang="en-US" altLang="en-US" sz="1300" dirty="0">
                <a:latin typeface="Arial" panose="020B0604020202020204" pitchFamily="34" charset="0"/>
              </a:rPr>
              <a:t>ViT-B/16 &gt; DenseNet121 &gt; Baseline 3 (CNN+GBDT) &gt; Baseline 4 (concept fusion).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lang="en-US" altLang="en-US" sz="1400" b="1" u="sng" dirty="0">
                <a:latin typeface="Arial" panose="020B0604020202020204" pitchFamily="34" charset="0"/>
              </a:rPr>
              <a:t>Added modalities did not help here: </a:t>
            </a:r>
            <a:r>
              <a:rPr lang="en-US" altLang="en-US" sz="1300" dirty="0">
                <a:latin typeface="Arial" panose="020B0604020202020204" pitchFamily="34" charset="0"/>
              </a:rPr>
              <a:t>both fusion baselines sit below the simple single-image CNN/ViT baselines already on this dataset.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lang="en-US" altLang="en-US" sz="1400" b="1" u="sng" dirty="0">
                <a:latin typeface="Arial" panose="020B0604020202020204" pitchFamily="34" charset="0"/>
              </a:rPr>
              <a:t>Where complexity did pay off: </a:t>
            </a:r>
            <a:r>
              <a:rPr lang="en-US" altLang="en-US" sz="1300" dirty="0">
                <a:latin typeface="Arial" panose="020B0604020202020204" pitchFamily="34" charset="0"/>
              </a:rPr>
              <a:t>AlphaNet’s binary malignant-vs-benign sub-task (0.845 AUC) — concept-based calibration helps at the coarse-grained level, not yet at 11-class resolution.</a:t>
            </a:r>
          </a:p>
        </p:txBody>
      </p:sp>
      <p:graphicFrame>
        <p:nvGraphicFramePr>
          <p:cNvPr id="16" name="FinalCompTable"/>
          <p:cNvGraphicFramePr>
            <a:graphicFrameLocks noGrp="1"/>
          </p:cNvGraphicFramePr>
          <p:nvPr/>
        </p:nvGraphicFramePr>
        <p:xfrm>
          <a:off x="330000" y="2650000"/>
          <a:ext cx="11530000" cy="3600000"/>
        </p:xfrm>
        <a:graphic>
          <a:graphicData uri="http://schemas.openxmlformats.org/drawingml/2006/table">
            <a:tbl>
              <a:tblPr firstRow="1" bandRow="1"/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3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DenseNet121 (image-only)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ViT-B/16 (image-only)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3 (CNN + GBDT)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4 (concept fusion)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11-class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11-class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11-class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11-class (+ binary sub-task)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71.18%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75.50%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69.27% (best pipeline)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67.38%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Macro-F1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66.75%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72.31%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Macro/ROC-AUC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0.9016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0.9251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computed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Val. set size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2,620 (25% split)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2,620 (25% split)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2,096 (20% split)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 (fold 0 of 2,098)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Added inputs beyond image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age, sex, site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MONET concepts, CAAS, age, sex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9040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2623</TotalTime>
  <Words>2208</Words>
  <Application>Microsoft Office PowerPoint</Application>
  <PresentationFormat>Widescreen</PresentationFormat>
  <Paragraphs>205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Georgia</vt:lpstr>
      <vt:lpstr>Google Sans Text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user2</cp:lastModifiedBy>
  <cp:revision>37</cp:revision>
  <dcterms:created xsi:type="dcterms:W3CDTF">2026-05-21T06:29:53Z</dcterms:created>
  <dcterms:modified xsi:type="dcterms:W3CDTF">2026-07-17T08:08:06Z</dcterms:modified>
</cp:coreProperties>
</file>